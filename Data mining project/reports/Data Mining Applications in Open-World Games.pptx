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18"/>
  </p:notesMasterIdLst>
  <p:sldIdLst>
    <p:sldId id="256" r:id="rId2"/>
    <p:sldId id="258" r:id="rId3"/>
    <p:sldId id="259" r:id="rId4"/>
    <p:sldId id="260" r:id="rId5"/>
    <p:sldId id="261" r:id="rId6"/>
    <p:sldId id="296" r:id="rId7"/>
    <p:sldId id="297" r:id="rId8"/>
    <p:sldId id="298" r:id="rId9"/>
    <p:sldId id="299" r:id="rId10"/>
    <p:sldId id="265" r:id="rId11"/>
    <p:sldId id="300" r:id="rId12"/>
    <p:sldId id="301" r:id="rId13"/>
    <p:sldId id="263" r:id="rId14"/>
    <p:sldId id="262" r:id="rId15"/>
    <p:sldId id="266" r:id="rId16"/>
    <p:sldId id="302" r:id="rId17"/>
  </p:sldIdLst>
  <p:sldSz cx="9144000" cy="5143500" type="screen16x9"/>
  <p:notesSz cx="6858000" cy="9144000"/>
  <p:embeddedFontLst>
    <p:embeddedFont>
      <p:font typeface="Kanit" panose="020B0604020202020204" charset="-34"/>
      <p:regular r:id="rId19"/>
      <p:bold r:id="rId20"/>
      <p:italic r:id="rId21"/>
      <p:boldItalic r:id="rId22"/>
    </p:embeddedFont>
    <p:embeddedFont>
      <p:font typeface="Kanit Light" panose="020B0604020202020204" charset="-34"/>
      <p:regular r:id="rId23"/>
      <p:bold r:id="rId24"/>
      <p:italic r:id="rId25"/>
      <p:boldItalic r:id="rId26"/>
    </p:embeddedFont>
    <p:embeddedFont>
      <p:font typeface="Open Sans Light" panose="020B0306030504020204" pitchFamily="34" charset="0"/>
      <p:regular r:id="rId27"/>
      <p:italic r:id="rId28"/>
    </p:embeddedFont>
    <p:embeddedFont>
      <p:font typeface="Orbitron" panose="020B0604020202020204" charset="0"/>
      <p:regular r:id="rId29"/>
      <p:bold r:id="rId30"/>
    </p:embeddedFont>
    <p:embeddedFont>
      <p:font typeface="Raleway" pitchFamily="2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E03BE14-AEBF-4072-963C-32BCB6F40B44}">
  <a:tblStyle styleId="{6E03BE14-AEBF-4072-963C-32BCB6F40B4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02F136E-E7D5-4824-928E-8F53375ECAF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204" d="100"/>
          <a:sy n="204" d="100"/>
        </p:scale>
        <p:origin x="570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ff18b49f31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1ff18b49f31_1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10860aa57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110860aa57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>
          <a:extLst>
            <a:ext uri="{FF2B5EF4-FFF2-40B4-BE49-F238E27FC236}">
              <a16:creationId xmlns:a16="http://schemas.microsoft.com/office/drawing/2014/main" id="{75A77F0E-0172-339E-51DA-65FD21404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3376c31365_0_0:notes">
            <a:extLst>
              <a:ext uri="{FF2B5EF4-FFF2-40B4-BE49-F238E27FC236}">
                <a16:creationId xmlns:a16="http://schemas.microsoft.com/office/drawing/2014/main" id="{11E1F9E3-8EC9-0C5C-081A-82689E413F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3376c31365_0_0:notes">
            <a:extLst>
              <a:ext uri="{FF2B5EF4-FFF2-40B4-BE49-F238E27FC236}">
                <a16:creationId xmlns:a16="http://schemas.microsoft.com/office/drawing/2014/main" id="{C24EDC65-BB50-F6DE-E2C2-06B6C770F4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55942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61C16434-AA86-8884-5F87-621903CC8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125d80b419_0_200:notes">
            <a:extLst>
              <a:ext uri="{FF2B5EF4-FFF2-40B4-BE49-F238E27FC236}">
                <a16:creationId xmlns:a16="http://schemas.microsoft.com/office/drawing/2014/main" id="{72991C10-95E8-AC14-3CE5-012EF6352C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125d80b419_0_200:notes">
            <a:extLst>
              <a:ext uri="{FF2B5EF4-FFF2-40B4-BE49-F238E27FC236}">
                <a16:creationId xmlns:a16="http://schemas.microsoft.com/office/drawing/2014/main" id="{2CBD7CCD-6A0F-3A73-9C0C-66E25DF0D9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95542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>
          <a:extLst>
            <a:ext uri="{FF2B5EF4-FFF2-40B4-BE49-F238E27FC236}">
              <a16:creationId xmlns:a16="http://schemas.microsoft.com/office/drawing/2014/main" id="{E7B158AB-F691-567B-947B-4DDA9D27E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3376c31365_0_0:notes">
            <a:extLst>
              <a:ext uri="{FF2B5EF4-FFF2-40B4-BE49-F238E27FC236}">
                <a16:creationId xmlns:a16="http://schemas.microsoft.com/office/drawing/2014/main" id="{0697FE89-CA96-FC42-97F3-F14BCD3A89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3376c31365_0_0:notes">
            <a:extLst>
              <a:ext uri="{FF2B5EF4-FFF2-40B4-BE49-F238E27FC236}">
                <a16:creationId xmlns:a16="http://schemas.microsoft.com/office/drawing/2014/main" id="{2DB68C67-CD98-B85B-7218-6C2B2971C1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0843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3697F222-B8F6-1A59-B6EC-F75F774C6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125d80b419_0_200:notes">
            <a:extLst>
              <a:ext uri="{FF2B5EF4-FFF2-40B4-BE49-F238E27FC236}">
                <a16:creationId xmlns:a16="http://schemas.microsoft.com/office/drawing/2014/main" id="{A05C591E-2717-12C1-42E3-89FA5CDA49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125d80b419_0_200:notes">
            <a:extLst>
              <a:ext uri="{FF2B5EF4-FFF2-40B4-BE49-F238E27FC236}">
                <a16:creationId xmlns:a16="http://schemas.microsoft.com/office/drawing/2014/main" id="{3E47602D-1F67-1760-156E-9930A6D7D7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7935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ff18b49f31_1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1ff18b49f31_1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>
          <a:extLst>
            <a:ext uri="{FF2B5EF4-FFF2-40B4-BE49-F238E27FC236}">
              <a16:creationId xmlns:a16="http://schemas.microsoft.com/office/drawing/2014/main" id="{B053B90A-728F-A7FE-1C84-4DF69BAF0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3376c31365_0_0:notes">
            <a:extLst>
              <a:ext uri="{FF2B5EF4-FFF2-40B4-BE49-F238E27FC236}">
                <a16:creationId xmlns:a16="http://schemas.microsoft.com/office/drawing/2014/main" id="{CD8E526E-5E7A-67F9-99DF-244FA533FB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3376c31365_0_0:notes">
            <a:extLst>
              <a:ext uri="{FF2B5EF4-FFF2-40B4-BE49-F238E27FC236}">
                <a16:creationId xmlns:a16="http://schemas.microsoft.com/office/drawing/2014/main" id="{E34817C0-642A-C86C-845C-F60A96041A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60531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EE2F1663-A813-AD33-EE34-6F236E7AF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125d80b419_0_200:notes">
            <a:extLst>
              <a:ext uri="{FF2B5EF4-FFF2-40B4-BE49-F238E27FC236}">
                <a16:creationId xmlns:a16="http://schemas.microsoft.com/office/drawing/2014/main" id="{4FAB3726-B315-5E0F-DC44-84FFA6BED1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125d80b419_0_200:notes">
            <a:extLst>
              <a:ext uri="{FF2B5EF4-FFF2-40B4-BE49-F238E27FC236}">
                <a16:creationId xmlns:a16="http://schemas.microsoft.com/office/drawing/2014/main" id="{EA10BD06-0521-9486-10F4-6BAE4357B3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1539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125d80b419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1125d80b419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125d80b419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1125d80b419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125d80b419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1125d80b419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0012F434-CCA0-2FC2-6F65-5CF4DD704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125d80b419_0_200:notes">
            <a:extLst>
              <a:ext uri="{FF2B5EF4-FFF2-40B4-BE49-F238E27FC236}">
                <a16:creationId xmlns:a16="http://schemas.microsoft.com/office/drawing/2014/main" id="{71CDAB27-F25E-D9E8-69C4-67C9AED399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125d80b419_0_200:notes">
            <a:extLst>
              <a:ext uri="{FF2B5EF4-FFF2-40B4-BE49-F238E27FC236}">
                <a16:creationId xmlns:a16="http://schemas.microsoft.com/office/drawing/2014/main" id="{7A330454-634F-12A8-7851-CE43450331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269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654450" y="1307025"/>
            <a:ext cx="5682300" cy="199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654575" y="3450425"/>
            <a:ext cx="5682300" cy="4095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12" name="Google Shape;12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0675" y="-145538"/>
            <a:ext cx="9557898" cy="53763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8657175" y="772575"/>
            <a:ext cx="74100" cy="1788450"/>
            <a:chOff x="8657175" y="772575"/>
            <a:chExt cx="74100" cy="1788450"/>
          </a:xfrm>
        </p:grpSpPr>
        <p:sp>
          <p:nvSpPr>
            <p:cNvPr id="14" name="Google Shape;14;p2"/>
            <p:cNvSpPr/>
            <p:nvPr/>
          </p:nvSpPr>
          <p:spPr>
            <a:xfrm>
              <a:off x="8657175" y="772575"/>
              <a:ext cx="74100" cy="1428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657175" y="2304150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657175" y="2483925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sp>
        <p:nvSpPr>
          <p:cNvPr id="17" name="Google Shape;17;p2"/>
          <p:cNvSpPr/>
          <p:nvPr/>
        </p:nvSpPr>
        <p:spPr>
          <a:xfrm>
            <a:off x="8809575" y="4485025"/>
            <a:ext cx="74100" cy="74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8657175" y="4637450"/>
            <a:ext cx="74100" cy="74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8809575" y="4789875"/>
            <a:ext cx="74100" cy="74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grpSp>
        <p:nvGrpSpPr>
          <p:cNvPr id="20" name="Google Shape;20;p2"/>
          <p:cNvGrpSpPr/>
          <p:nvPr/>
        </p:nvGrpSpPr>
        <p:grpSpPr>
          <a:xfrm>
            <a:off x="205650" y="308475"/>
            <a:ext cx="150300" cy="378950"/>
            <a:chOff x="205650" y="308475"/>
            <a:chExt cx="150300" cy="378950"/>
          </a:xfrm>
        </p:grpSpPr>
        <p:sp>
          <p:nvSpPr>
            <p:cNvPr id="21" name="Google Shape;21;p2"/>
            <p:cNvSpPr/>
            <p:nvPr/>
          </p:nvSpPr>
          <p:spPr>
            <a:xfrm>
              <a:off x="205650" y="308475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281850" y="460900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205650" y="613325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24" name="Google Shape;24;p2"/>
          <p:cNvGrpSpPr/>
          <p:nvPr/>
        </p:nvGrpSpPr>
        <p:grpSpPr>
          <a:xfrm>
            <a:off x="1085475" y="4711575"/>
            <a:ext cx="536998" cy="134100"/>
            <a:chOff x="1085475" y="4711575"/>
            <a:chExt cx="536998" cy="134100"/>
          </a:xfrm>
        </p:grpSpPr>
        <p:sp>
          <p:nvSpPr>
            <p:cNvPr id="25" name="Google Shape;25;p2"/>
            <p:cNvSpPr/>
            <p:nvPr/>
          </p:nvSpPr>
          <p:spPr>
            <a:xfrm>
              <a:off x="1085475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1219774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1354074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1488373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3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3"/>
          <p:cNvPicPr preferRelativeResize="0"/>
          <p:nvPr/>
        </p:nvPicPr>
        <p:blipFill rotWithShape="1">
          <a:blip r:embed="rId3">
            <a:alphaModFix/>
          </a:blip>
          <a:srcRect t="13217"/>
          <a:stretch/>
        </p:blipFill>
        <p:spPr>
          <a:xfrm>
            <a:off x="-330675" y="565023"/>
            <a:ext cx="9557898" cy="4665776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3"/>
          <p:cNvSpPr txBox="1">
            <a:spLocks noGrp="1"/>
          </p:cNvSpPr>
          <p:nvPr>
            <p:ph type="title"/>
          </p:nvPr>
        </p:nvSpPr>
        <p:spPr>
          <a:xfrm>
            <a:off x="2391900" y="2409526"/>
            <a:ext cx="4360200" cy="11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title" idx="2" hasCustomPrompt="1"/>
          </p:nvPr>
        </p:nvSpPr>
        <p:spPr>
          <a:xfrm>
            <a:off x="4027150" y="1352695"/>
            <a:ext cx="1089900" cy="102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34" name="Google Shape;34;p3"/>
          <p:cNvGrpSpPr/>
          <p:nvPr/>
        </p:nvGrpSpPr>
        <p:grpSpPr>
          <a:xfrm>
            <a:off x="1112875" y="367875"/>
            <a:ext cx="1788450" cy="74100"/>
            <a:chOff x="1112875" y="367875"/>
            <a:chExt cx="1788450" cy="74100"/>
          </a:xfrm>
        </p:grpSpPr>
        <p:sp>
          <p:nvSpPr>
            <p:cNvPr id="35" name="Google Shape;35;p3"/>
            <p:cNvSpPr/>
            <p:nvPr/>
          </p:nvSpPr>
          <p:spPr>
            <a:xfrm rot="-5400000">
              <a:off x="1790275" y="-309525"/>
              <a:ext cx="74100" cy="1428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2645950" y="366375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37" name="Google Shape;37;p3"/>
            <p:cNvSpPr/>
            <p:nvPr/>
          </p:nvSpPr>
          <p:spPr>
            <a:xfrm rot="-5400000">
              <a:off x="2825725" y="366375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38" name="Google Shape;38;p3"/>
          <p:cNvGrpSpPr/>
          <p:nvPr/>
        </p:nvGrpSpPr>
        <p:grpSpPr>
          <a:xfrm>
            <a:off x="1085475" y="4711575"/>
            <a:ext cx="536998" cy="134100"/>
            <a:chOff x="1085475" y="4711575"/>
            <a:chExt cx="536998" cy="134100"/>
          </a:xfrm>
        </p:grpSpPr>
        <p:sp>
          <p:nvSpPr>
            <p:cNvPr id="39" name="Google Shape;39;p3"/>
            <p:cNvSpPr/>
            <p:nvPr/>
          </p:nvSpPr>
          <p:spPr>
            <a:xfrm>
              <a:off x="1085475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1219774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1354074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1488373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 txBox="1">
            <a:spLocks noGrp="1"/>
          </p:cNvSpPr>
          <p:nvPr>
            <p:ph type="subTitle" idx="1"/>
          </p:nvPr>
        </p:nvSpPr>
        <p:spPr>
          <a:xfrm>
            <a:off x="1013450" y="1817100"/>
            <a:ext cx="32880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subTitle" idx="2"/>
          </p:nvPr>
        </p:nvSpPr>
        <p:spPr>
          <a:xfrm>
            <a:off x="4683250" y="1817100"/>
            <a:ext cx="34473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subTitle" idx="3"/>
          </p:nvPr>
        </p:nvSpPr>
        <p:spPr>
          <a:xfrm>
            <a:off x="1013450" y="2686775"/>
            <a:ext cx="3288000" cy="12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subTitle" idx="4"/>
          </p:nvPr>
        </p:nvSpPr>
        <p:spPr>
          <a:xfrm>
            <a:off x="4683250" y="2686775"/>
            <a:ext cx="3447300" cy="12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53" name="Google Shape;5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4639" y="-126362"/>
            <a:ext cx="9593277" cy="539622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/>
          <p:nvPr/>
        </p:nvSpPr>
        <p:spPr>
          <a:xfrm>
            <a:off x="8504775" y="4104025"/>
            <a:ext cx="74100" cy="7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8352375" y="4256450"/>
            <a:ext cx="74100" cy="7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8504775" y="4408875"/>
            <a:ext cx="74100" cy="7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57" name="Google Shape;57;p5"/>
          <p:cNvPicPr preferRelativeResize="0"/>
          <p:nvPr/>
        </p:nvPicPr>
        <p:blipFill rotWithShape="1">
          <a:blip r:embed="rId3">
            <a:alphaModFix amt="70000"/>
          </a:blip>
          <a:srcRect r="46170" b="42243"/>
          <a:stretch/>
        </p:blipFill>
        <p:spPr>
          <a:xfrm flipH="1">
            <a:off x="5856008" y="0"/>
            <a:ext cx="3287992" cy="1984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549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body" idx="1"/>
          </p:nvPr>
        </p:nvSpPr>
        <p:spPr>
          <a:xfrm>
            <a:off x="720000" y="1547575"/>
            <a:ext cx="4549500" cy="266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7"/>
          <p:cNvSpPr>
            <a:spLocks noGrp="1"/>
          </p:cNvSpPr>
          <p:nvPr>
            <p:ph type="pic" idx="2"/>
          </p:nvPr>
        </p:nvSpPr>
        <p:spPr>
          <a:xfrm>
            <a:off x="5831400" y="756200"/>
            <a:ext cx="2526600" cy="3699600"/>
          </a:xfrm>
          <a:prstGeom prst="snip1Rect">
            <a:avLst>
              <a:gd name="adj" fmla="val 1666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66" name="Google Shape;6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4639" y="-126362"/>
            <a:ext cx="9593277" cy="539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3">
            <a:alphaModFix amt="60000"/>
          </a:blip>
          <a:srcRect l="38540" t="43939"/>
          <a:stretch/>
        </p:blipFill>
        <p:spPr>
          <a:xfrm flipH="1">
            <a:off x="0" y="2807025"/>
            <a:ext cx="4553876" cy="233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8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0675" y="-145538"/>
            <a:ext cx="9557898" cy="537632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9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0675" y="-145538"/>
            <a:ext cx="9557898" cy="5376326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>
            <a:spLocks noGrp="1"/>
          </p:cNvSpPr>
          <p:nvPr>
            <p:ph type="title"/>
          </p:nvPr>
        </p:nvSpPr>
        <p:spPr>
          <a:xfrm>
            <a:off x="2241425" y="129310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subTitle" idx="1"/>
          </p:nvPr>
        </p:nvSpPr>
        <p:spPr>
          <a:xfrm>
            <a:off x="2241475" y="216860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10"/>
          <p:cNvSpPr txBox="1">
            <a:spLocks noGrp="1"/>
          </p:cNvSpPr>
          <p:nvPr>
            <p:ph type="title"/>
          </p:nvPr>
        </p:nvSpPr>
        <p:spPr>
          <a:xfrm>
            <a:off x="720000" y="4104775"/>
            <a:ext cx="7704000" cy="503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1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0675" y="-145538"/>
            <a:ext cx="9557898" cy="5376326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>
            <a:spLocks noGrp="1"/>
          </p:cNvSpPr>
          <p:nvPr>
            <p:ph type="title" hasCustomPrompt="1"/>
          </p:nvPr>
        </p:nvSpPr>
        <p:spPr>
          <a:xfrm>
            <a:off x="1572500" y="1125725"/>
            <a:ext cx="61068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4" name="Google Shape;84;p11"/>
          <p:cNvSpPr txBox="1">
            <a:spLocks noGrp="1"/>
          </p:cNvSpPr>
          <p:nvPr>
            <p:ph type="subTitle" idx="1"/>
          </p:nvPr>
        </p:nvSpPr>
        <p:spPr>
          <a:xfrm>
            <a:off x="1572500" y="2823154"/>
            <a:ext cx="6106800" cy="7134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85" name="Google Shape;85;p11"/>
          <p:cNvGrpSpPr/>
          <p:nvPr/>
        </p:nvGrpSpPr>
        <p:grpSpPr>
          <a:xfrm>
            <a:off x="8776650" y="3054575"/>
            <a:ext cx="74100" cy="1788450"/>
            <a:chOff x="8657175" y="772575"/>
            <a:chExt cx="74100" cy="1788450"/>
          </a:xfrm>
        </p:grpSpPr>
        <p:sp>
          <p:nvSpPr>
            <p:cNvPr id="86" name="Google Shape;86;p11"/>
            <p:cNvSpPr/>
            <p:nvPr/>
          </p:nvSpPr>
          <p:spPr>
            <a:xfrm>
              <a:off x="8657175" y="772575"/>
              <a:ext cx="74100" cy="1428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87" name="Google Shape;87;p11"/>
            <p:cNvSpPr/>
            <p:nvPr/>
          </p:nvSpPr>
          <p:spPr>
            <a:xfrm>
              <a:off x="8657175" y="2304150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88" name="Google Shape;88;p11"/>
            <p:cNvSpPr/>
            <p:nvPr/>
          </p:nvSpPr>
          <p:spPr>
            <a:xfrm>
              <a:off x="8657175" y="2483925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89" name="Google Shape;89;p11"/>
          <p:cNvGrpSpPr/>
          <p:nvPr/>
        </p:nvGrpSpPr>
        <p:grpSpPr>
          <a:xfrm>
            <a:off x="205650" y="308475"/>
            <a:ext cx="150300" cy="378950"/>
            <a:chOff x="205650" y="308475"/>
            <a:chExt cx="150300" cy="378950"/>
          </a:xfrm>
        </p:grpSpPr>
        <p:sp>
          <p:nvSpPr>
            <p:cNvPr id="90" name="Google Shape;90;p11"/>
            <p:cNvSpPr/>
            <p:nvPr/>
          </p:nvSpPr>
          <p:spPr>
            <a:xfrm>
              <a:off x="205650" y="308475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91" name="Google Shape;91;p11"/>
            <p:cNvSpPr/>
            <p:nvPr/>
          </p:nvSpPr>
          <p:spPr>
            <a:xfrm>
              <a:off x="281850" y="460900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92" name="Google Shape;92;p11"/>
            <p:cNvSpPr/>
            <p:nvPr/>
          </p:nvSpPr>
          <p:spPr>
            <a:xfrm>
              <a:off x="205650" y="613325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title" idx="2" hasCustomPrompt="1"/>
          </p:nvPr>
        </p:nvSpPr>
        <p:spPr>
          <a:xfrm>
            <a:off x="862325" y="14808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" name="Google Shape;97;p13"/>
          <p:cNvSpPr txBox="1">
            <a:spLocks noGrp="1"/>
          </p:cNvSpPr>
          <p:nvPr>
            <p:ph type="title" idx="3" hasCustomPrompt="1"/>
          </p:nvPr>
        </p:nvSpPr>
        <p:spPr>
          <a:xfrm>
            <a:off x="862325" y="29142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 idx="4" hasCustomPrompt="1"/>
          </p:nvPr>
        </p:nvSpPr>
        <p:spPr>
          <a:xfrm>
            <a:off x="3554100" y="14808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9" name="Google Shape;99;p13"/>
          <p:cNvSpPr txBox="1">
            <a:spLocks noGrp="1"/>
          </p:cNvSpPr>
          <p:nvPr>
            <p:ph type="title" idx="5" hasCustomPrompt="1"/>
          </p:nvPr>
        </p:nvSpPr>
        <p:spPr>
          <a:xfrm>
            <a:off x="3554100" y="29142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0" name="Google Shape;100;p13"/>
          <p:cNvSpPr txBox="1">
            <a:spLocks noGrp="1"/>
          </p:cNvSpPr>
          <p:nvPr>
            <p:ph type="title" idx="6" hasCustomPrompt="1"/>
          </p:nvPr>
        </p:nvSpPr>
        <p:spPr>
          <a:xfrm>
            <a:off x="6260875" y="14808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3"/>
          <p:cNvSpPr txBox="1">
            <a:spLocks noGrp="1"/>
          </p:cNvSpPr>
          <p:nvPr>
            <p:ph type="title" idx="7" hasCustomPrompt="1"/>
          </p:nvPr>
        </p:nvSpPr>
        <p:spPr>
          <a:xfrm>
            <a:off x="6260875" y="29142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1"/>
          </p:nvPr>
        </p:nvSpPr>
        <p:spPr>
          <a:xfrm>
            <a:off x="862325" y="1984475"/>
            <a:ext cx="20358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8"/>
          </p:nvPr>
        </p:nvSpPr>
        <p:spPr>
          <a:xfrm>
            <a:off x="3554100" y="1984475"/>
            <a:ext cx="20358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9"/>
          </p:nvPr>
        </p:nvSpPr>
        <p:spPr>
          <a:xfrm>
            <a:off x="6260875" y="1984475"/>
            <a:ext cx="20208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subTitle" idx="13"/>
          </p:nvPr>
        </p:nvSpPr>
        <p:spPr>
          <a:xfrm>
            <a:off x="862325" y="3417950"/>
            <a:ext cx="20358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14"/>
          </p:nvPr>
        </p:nvSpPr>
        <p:spPr>
          <a:xfrm>
            <a:off x="3554100" y="3417950"/>
            <a:ext cx="20172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15"/>
          </p:nvPr>
        </p:nvSpPr>
        <p:spPr>
          <a:xfrm>
            <a:off x="6260875" y="3417950"/>
            <a:ext cx="20208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pic>
        <p:nvPicPr>
          <p:cNvPr id="108" name="Google Shape;108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4639" y="-126362"/>
            <a:ext cx="9593277" cy="539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3"/>
          <p:cNvPicPr preferRelativeResize="0"/>
          <p:nvPr/>
        </p:nvPicPr>
        <p:blipFill rotWithShape="1">
          <a:blip r:embed="rId3">
            <a:alphaModFix amt="70000"/>
          </a:blip>
          <a:srcRect r="46170" b="42243"/>
          <a:stretch/>
        </p:blipFill>
        <p:spPr>
          <a:xfrm flipH="1">
            <a:off x="5856008" y="0"/>
            <a:ext cx="3287992" cy="198447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8504775" y="4180225"/>
            <a:ext cx="74100" cy="7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11" name="Google Shape;111;p13"/>
          <p:cNvSpPr/>
          <p:nvPr/>
        </p:nvSpPr>
        <p:spPr>
          <a:xfrm>
            <a:off x="8352375" y="4332650"/>
            <a:ext cx="74100" cy="7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12" name="Google Shape;112;p13"/>
          <p:cNvSpPr/>
          <p:nvPr/>
        </p:nvSpPr>
        <p:spPr>
          <a:xfrm>
            <a:off x="8504775" y="4485075"/>
            <a:ext cx="74100" cy="7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6"/>
          <p:cNvSpPr txBox="1">
            <a:spLocks noGrp="1"/>
          </p:cNvSpPr>
          <p:nvPr>
            <p:ph type="subTitle" idx="1"/>
          </p:nvPr>
        </p:nvSpPr>
        <p:spPr>
          <a:xfrm>
            <a:off x="680137" y="1660725"/>
            <a:ext cx="2526900" cy="6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7" name="Google Shape;127;p16"/>
          <p:cNvSpPr txBox="1">
            <a:spLocks noGrp="1"/>
          </p:cNvSpPr>
          <p:nvPr>
            <p:ph type="subTitle" idx="2"/>
          </p:nvPr>
        </p:nvSpPr>
        <p:spPr>
          <a:xfrm>
            <a:off x="680137" y="2511900"/>
            <a:ext cx="2526900" cy="16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6"/>
          <p:cNvSpPr txBox="1">
            <a:spLocks noGrp="1"/>
          </p:cNvSpPr>
          <p:nvPr>
            <p:ph type="subTitle" idx="3"/>
          </p:nvPr>
        </p:nvSpPr>
        <p:spPr>
          <a:xfrm>
            <a:off x="3306163" y="2511900"/>
            <a:ext cx="2526900" cy="16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6"/>
          <p:cNvSpPr txBox="1">
            <a:spLocks noGrp="1"/>
          </p:cNvSpPr>
          <p:nvPr>
            <p:ph type="subTitle" idx="4"/>
          </p:nvPr>
        </p:nvSpPr>
        <p:spPr>
          <a:xfrm>
            <a:off x="5936963" y="2511900"/>
            <a:ext cx="2526900" cy="16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6"/>
          <p:cNvSpPr txBox="1">
            <a:spLocks noGrp="1"/>
          </p:cNvSpPr>
          <p:nvPr>
            <p:ph type="subTitle" idx="5"/>
          </p:nvPr>
        </p:nvSpPr>
        <p:spPr>
          <a:xfrm>
            <a:off x="3306162" y="1660725"/>
            <a:ext cx="2526900" cy="6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1" name="Google Shape;131;p16"/>
          <p:cNvSpPr txBox="1">
            <a:spLocks noGrp="1"/>
          </p:cNvSpPr>
          <p:nvPr>
            <p:ph type="subTitle" idx="6"/>
          </p:nvPr>
        </p:nvSpPr>
        <p:spPr>
          <a:xfrm>
            <a:off x="5936963" y="1660725"/>
            <a:ext cx="2526900" cy="6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pic>
        <p:nvPicPr>
          <p:cNvPr id="132" name="Google Shape;13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4639" y="-126362"/>
            <a:ext cx="9593277" cy="539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/>
          <p:cNvPicPr preferRelativeResize="0"/>
          <p:nvPr/>
        </p:nvPicPr>
        <p:blipFill rotWithShape="1">
          <a:blip r:embed="rId3">
            <a:alphaModFix amt="60000"/>
          </a:blip>
          <a:srcRect l="38540" t="43939"/>
          <a:stretch/>
        </p:blipFill>
        <p:spPr>
          <a:xfrm flipH="1">
            <a:off x="0" y="2807025"/>
            <a:ext cx="4553876" cy="2336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/>
          <p:nvPr/>
        </p:nvSpPr>
        <p:spPr>
          <a:xfrm>
            <a:off x="8058350" y="46085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8192649" y="46085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8326949" y="46085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8461248" y="46085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18"/>
          <p:cNvSpPr txBox="1">
            <a:spLocks noGrp="1"/>
          </p:cNvSpPr>
          <p:nvPr>
            <p:ph type="subTitle" idx="1"/>
          </p:nvPr>
        </p:nvSpPr>
        <p:spPr>
          <a:xfrm>
            <a:off x="1055850" y="1306475"/>
            <a:ext cx="30483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51" name="Google Shape;151;p18"/>
          <p:cNvSpPr txBox="1">
            <a:spLocks noGrp="1"/>
          </p:cNvSpPr>
          <p:nvPr>
            <p:ph type="subTitle" idx="2"/>
          </p:nvPr>
        </p:nvSpPr>
        <p:spPr>
          <a:xfrm>
            <a:off x="1055850" y="1832375"/>
            <a:ext cx="30483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18"/>
          <p:cNvSpPr txBox="1">
            <a:spLocks noGrp="1"/>
          </p:cNvSpPr>
          <p:nvPr>
            <p:ph type="subTitle" idx="3"/>
          </p:nvPr>
        </p:nvSpPr>
        <p:spPr>
          <a:xfrm>
            <a:off x="5039850" y="1832375"/>
            <a:ext cx="30483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8"/>
          <p:cNvSpPr txBox="1">
            <a:spLocks noGrp="1"/>
          </p:cNvSpPr>
          <p:nvPr>
            <p:ph type="subTitle" idx="4"/>
          </p:nvPr>
        </p:nvSpPr>
        <p:spPr>
          <a:xfrm>
            <a:off x="1055850" y="3580700"/>
            <a:ext cx="30483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18"/>
          <p:cNvSpPr txBox="1">
            <a:spLocks noGrp="1"/>
          </p:cNvSpPr>
          <p:nvPr>
            <p:ph type="subTitle" idx="5"/>
          </p:nvPr>
        </p:nvSpPr>
        <p:spPr>
          <a:xfrm>
            <a:off x="5039850" y="3580700"/>
            <a:ext cx="30483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8"/>
          <p:cNvSpPr txBox="1">
            <a:spLocks noGrp="1"/>
          </p:cNvSpPr>
          <p:nvPr>
            <p:ph type="subTitle" idx="6"/>
          </p:nvPr>
        </p:nvSpPr>
        <p:spPr>
          <a:xfrm>
            <a:off x="1055850" y="3054800"/>
            <a:ext cx="30483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56" name="Google Shape;156;p18"/>
          <p:cNvSpPr txBox="1">
            <a:spLocks noGrp="1"/>
          </p:cNvSpPr>
          <p:nvPr>
            <p:ph type="subTitle" idx="7"/>
          </p:nvPr>
        </p:nvSpPr>
        <p:spPr>
          <a:xfrm>
            <a:off x="5039850" y="1306475"/>
            <a:ext cx="30483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57" name="Google Shape;157;p18"/>
          <p:cNvSpPr txBox="1">
            <a:spLocks noGrp="1"/>
          </p:cNvSpPr>
          <p:nvPr>
            <p:ph type="subTitle" idx="8"/>
          </p:nvPr>
        </p:nvSpPr>
        <p:spPr>
          <a:xfrm>
            <a:off x="5039850" y="3054800"/>
            <a:ext cx="30483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pic>
        <p:nvPicPr>
          <p:cNvPr id="158" name="Google Shape;158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4639" y="-126362"/>
            <a:ext cx="9593277" cy="539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/>
          <p:cNvPicPr preferRelativeResize="0"/>
          <p:nvPr/>
        </p:nvPicPr>
        <p:blipFill rotWithShape="1">
          <a:blip r:embed="rId3">
            <a:alphaModFix amt="70000"/>
          </a:blip>
          <a:srcRect r="46170" b="42243"/>
          <a:stretch/>
        </p:blipFill>
        <p:spPr>
          <a:xfrm flipH="1">
            <a:off x="5856008" y="0"/>
            <a:ext cx="3287992" cy="1984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1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0675" y="-145538"/>
            <a:ext cx="9557898" cy="5376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4639" y="-126362"/>
            <a:ext cx="9593277" cy="539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2"/>
          <p:cNvPicPr preferRelativeResize="0"/>
          <p:nvPr/>
        </p:nvPicPr>
        <p:blipFill rotWithShape="1">
          <a:blip r:embed="rId3">
            <a:alphaModFix amt="70000"/>
          </a:blip>
          <a:srcRect r="46170" b="42243"/>
          <a:stretch/>
        </p:blipFill>
        <p:spPr>
          <a:xfrm flipH="1">
            <a:off x="5856008" y="0"/>
            <a:ext cx="3287992" cy="1984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3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●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○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■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●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○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■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●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○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■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2" r:id="rId11"/>
    <p:sldLayoutId id="2147483664" r:id="rId12"/>
    <p:sldLayoutId id="2147483667" r:id="rId13"/>
    <p:sldLayoutId id="2147483668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 txBox="1">
            <a:spLocks noGrp="1"/>
          </p:cNvSpPr>
          <p:nvPr>
            <p:ph type="ctrTitle"/>
          </p:nvPr>
        </p:nvSpPr>
        <p:spPr>
          <a:xfrm>
            <a:off x="1654450" y="1307025"/>
            <a:ext cx="5682300" cy="199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600" b="1" dirty="0"/>
              <a:t>Data Mining Applications in Open-World Games</a:t>
            </a:r>
            <a:endParaRPr lang="en-US" sz="3600" dirty="0"/>
          </a:p>
        </p:txBody>
      </p:sp>
      <p:sp>
        <p:nvSpPr>
          <p:cNvPr id="200" name="Google Shape;200;p26"/>
          <p:cNvSpPr txBox="1">
            <a:spLocks noGrp="1"/>
          </p:cNvSpPr>
          <p:nvPr>
            <p:ph type="subTitle" idx="1"/>
          </p:nvPr>
        </p:nvSpPr>
        <p:spPr>
          <a:xfrm>
            <a:off x="1654575" y="3450425"/>
            <a:ext cx="56823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Clustering Player Behavior to Understand Immersion</a:t>
            </a:r>
          </a:p>
        </p:txBody>
      </p:sp>
      <p:grpSp>
        <p:nvGrpSpPr>
          <p:cNvPr id="201" name="Google Shape;201;p26"/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02" name="Google Shape;202;p26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03" name="Google Shape;203;p26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04" name="Google Shape;204;p26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05" name="Google Shape;205;p26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225" name="Google Shape;225;p28"/>
          <p:cNvSpPr txBox="1">
            <a:spLocks noGrp="1"/>
          </p:cNvSpPr>
          <p:nvPr>
            <p:ph type="title" idx="2"/>
          </p:nvPr>
        </p:nvSpPr>
        <p:spPr>
          <a:xfrm>
            <a:off x="862325" y="14808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26" name="Google Shape;226;p28"/>
          <p:cNvSpPr txBox="1">
            <a:spLocks noGrp="1"/>
          </p:cNvSpPr>
          <p:nvPr>
            <p:ph type="title" idx="3"/>
          </p:nvPr>
        </p:nvSpPr>
        <p:spPr>
          <a:xfrm>
            <a:off x="862325" y="291429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27" name="Google Shape;227;p28"/>
          <p:cNvSpPr txBox="1">
            <a:spLocks noGrp="1"/>
          </p:cNvSpPr>
          <p:nvPr>
            <p:ph type="title" idx="4"/>
          </p:nvPr>
        </p:nvSpPr>
        <p:spPr>
          <a:xfrm>
            <a:off x="3554100" y="14808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28" name="Google Shape;228;p28"/>
          <p:cNvSpPr txBox="1">
            <a:spLocks noGrp="1"/>
          </p:cNvSpPr>
          <p:nvPr>
            <p:ph type="title" idx="5"/>
          </p:nvPr>
        </p:nvSpPr>
        <p:spPr>
          <a:xfrm>
            <a:off x="3554100" y="291429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229" name="Google Shape;229;p28"/>
          <p:cNvSpPr txBox="1">
            <a:spLocks noGrp="1"/>
          </p:cNvSpPr>
          <p:nvPr>
            <p:ph type="title" idx="6"/>
          </p:nvPr>
        </p:nvSpPr>
        <p:spPr>
          <a:xfrm>
            <a:off x="6260875" y="14808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30" name="Google Shape;230;p28"/>
          <p:cNvSpPr txBox="1">
            <a:spLocks noGrp="1"/>
          </p:cNvSpPr>
          <p:nvPr>
            <p:ph type="title" idx="7"/>
          </p:nvPr>
        </p:nvSpPr>
        <p:spPr>
          <a:xfrm>
            <a:off x="6260875" y="291429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231" name="Google Shape;231;p28"/>
          <p:cNvSpPr txBox="1">
            <a:spLocks noGrp="1"/>
          </p:cNvSpPr>
          <p:nvPr>
            <p:ph type="subTitle" idx="1"/>
          </p:nvPr>
        </p:nvSpPr>
        <p:spPr>
          <a:xfrm>
            <a:off x="862325" y="1984475"/>
            <a:ext cx="20358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Motivation</a:t>
            </a:r>
            <a:endParaRPr dirty="0"/>
          </a:p>
        </p:txBody>
      </p:sp>
      <p:sp>
        <p:nvSpPr>
          <p:cNvPr id="232" name="Google Shape;232;p28"/>
          <p:cNvSpPr txBox="1">
            <a:spLocks noGrp="1"/>
          </p:cNvSpPr>
          <p:nvPr>
            <p:ph type="subTitle" idx="8"/>
          </p:nvPr>
        </p:nvSpPr>
        <p:spPr>
          <a:xfrm>
            <a:off x="3554100" y="1984475"/>
            <a:ext cx="20358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Immersion &amp; Player Data</a:t>
            </a:r>
            <a:endParaRPr dirty="0"/>
          </a:p>
        </p:txBody>
      </p:sp>
      <p:sp>
        <p:nvSpPr>
          <p:cNvPr id="233" name="Google Shape;233;p28"/>
          <p:cNvSpPr txBox="1">
            <a:spLocks noGrp="1"/>
          </p:cNvSpPr>
          <p:nvPr>
            <p:ph type="subTitle" idx="9"/>
          </p:nvPr>
        </p:nvSpPr>
        <p:spPr>
          <a:xfrm>
            <a:off x="6260875" y="1984475"/>
            <a:ext cx="20208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Dataset &amp; Features</a:t>
            </a:r>
            <a:endParaRPr dirty="0"/>
          </a:p>
        </p:txBody>
      </p:sp>
      <p:sp>
        <p:nvSpPr>
          <p:cNvPr id="234" name="Google Shape;234;p28"/>
          <p:cNvSpPr txBox="1">
            <a:spLocks noGrp="1"/>
          </p:cNvSpPr>
          <p:nvPr>
            <p:ph type="subTitle" idx="13"/>
          </p:nvPr>
        </p:nvSpPr>
        <p:spPr>
          <a:xfrm>
            <a:off x="862325" y="3417950"/>
            <a:ext cx="20358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Methodology</a:t>
            </a:r>
            <a:endParaRPr dirty="0"/>
          </a:p>
        </p:txBody>
      </p:sp>
      <p:sp>
        <p:nvSpPr>
          <p:cNvPr id="235" name="Google Shape;235;p28"/>
          <p:cNvSpPr txBox="1">
            <a:spLocks noGrp="1"/>
          </p:cNvSpPr>
          <p:nvPr>
            <p:ph type="subTitle" idx="14"/>
          </p:nvPr>
        </p:nvSpPr>
        <p:spPr>
          <a:xfrm>
            <a:off x="3554100" y="3417950"/>
            <a:ext cx="20172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Evaluation</a:t>
            </a:r>
            <a:endParaRPr dirty="0"/>
          </a:p>
        </p:txBody>
      </p:sp>
      <p:sp>
        <p:nvSpPr>
          <p:cNvPr id="236" name="Google Shape;236;p28"/>
          <p:cNvSpPr txBox="1">
            <a:spLocks noGrp="1"/>
          </p:cNvSpPr>
          <p:nvPr>
            <p:ph type="subTitle" idx="15"/>
          </p:nvPr>
        </p:nvSpPr>
        <p:spPr>
          <a:xfrm>
            <a:off x="6260875" y="3417950"/>
            <a:ext cx="20208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Contact and next steps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D2BEC7-904E-E27C-0926-1D987F51E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>
            <a:spLocks noGrp="1"/>
          </p:cNvSpPr>
          <p:nvPr>
            <p:ph type="title"/>
          </p:nvPr>
        </p:nvSpPr>
        <p:spPr>
          <a:xfrm>
            <a:off x="2391900" y="2409526"/>
            <a:ext cx="4360200" cy="11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Motivation</a:t>
            </a:r>
            <a:endParaRPr dirty="0"/>
          </a:p>
        </p:txBody>
      </p:sp>
      <p:sp>
        <p:nvSpPr>
          <p:cNvPr id="242" name="Google Shape;242;p29"/>
          <p:cNvSpPr txBox="1">
            <a:spLocks noGrp="1"/>
          </p:cNvSpPr>
          <p:nvPr>
            <p:ph type="title" idx="2"/>
          </p:nvPr>
        </p:nvSpPr>
        <p:spPr>
          <a:xfrm>
            <a:off x="4027150" y="1352695"/>
            <a:ext cx="1089900" cy="102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243" name="Google Shape;243;p29"/>
          <p:cNvGrpSpPr/>
          <p:nvPr/>
        </p:nvGrpSpPr>
        <p:grpSpPr>
          <a:xfrm>
            <a:off x="7894100" y="3762250"/>
            <a:ext cx="226500" cy="378950"/>
            <a:chOff x="7894100" y="3762250"/>
            <a:chExt cx="226500" cy="378950"/>
          </a:xfrm>
        </p:grpSpPr>
        <p:sp>
          <p:nvSpPr>
            <p:cNvPr id="244" name="Google Shape;244;p29"/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5" name="Google Shape;245;p29"/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6" name="Google Shape;246;p29"/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247" name="Google Shape;247;p29"/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48" name="Google Shape;248;p29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549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Motivation</a:t>
            </a:r>
            <a:endParaRPr dirty="0"/>
          </a:p>
        </p:txBody>
      </p:sp>
      <p:sp>
        <p:nvSpPr>
          <p:cNvPr id="257" name="Google Shape;257;p30"/>
          <p:cNvSpPr txBox="1">
            <a:spLocks noGrp="1"/>
          </p:cNvSpPr>
          <p:nvPr>
            <p:ph type="body" idx="1"/>
          </p:nvPr>
        </p:nvSpPr>
        <p:spPr>
          <a:xfrm>
            <a:off x="720000" y="1547575"/>
            <a:ext cx="4549500" cy="266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Modern open-world games generate massive amounts of player behavior data.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152400" indent="0">
              <a:buNone/>
            </a:pPr>
            <a:r>
              <a:rPr lang="en-US" dirty="0"/>
              <a:t>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Player movement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Combat activity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Dialogue choices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Exploration patterns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pic>
        <p:nvPicPr>
          <p:cNvPr id="258" name="Google Shape;258;p30"/>
          <p:cNvPicPr preferRelativeResize="0">
            <a:picLocks noGrp="1"/>
          </p:cNvPicPr>
          <p:nvPr>
            <p:ph type="pic" idx="2"/>
          </p:nvPr>
        </p:nvPicPr>
        <p:blipFill>
          <a:blip r:embed="rId3"/>
          <a:srcRect t="8821" b="8821"/>
          <a:stretch/>
        </p:blipFill>
        <p:spPr>
          <a:xfrm>
            <a:off x="5831400" y="756200"/>
            <a:ext cx="2526600" cy="3699600"/>
          </a:xfrm>
          <a:prstGeom prst="snip1Rect">
            <a:avLst>
              <a:gd name="adj" fmla="val 16667"/>
            </a:avLst>
          </a:prstGeom>
        </p:spPr>
      </p:pic>
      <p:sp>
        <p:nvSpPr>
          <p:cNvPr id="259" name="Google Shape;259;p30"/>
          <p:cNvSpPr/>
          <p:nvPr/>
        </p:nvSpPr>
        <p:spPr>
          <a:xfrm rot="5400000">
            <a:off x="5518774" y="3918801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0" name="Google Shape;260;p30"/>
          <p:cNvSpPr/>
          <p:nvPr/>
        </p:nvSpPr>
        <p:spPr>
          <a:xfrm rot="5400000">
            <a:off x="5518774" y="40531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1" name="Google Shape;261;p30"/>
          <p:cNvSpPr/>
          <p:nvPr/>
        </p:nvSpPr>
        <p:spPr>
          <a:xfrm rot="5400000">
            <a:off x="5518774" y="41874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2" name="Google Shape;262;p30"/>
          <p:cNvSpPr/>
          <p:nvPr/>
        </p:nvSpPr>
        <p:spPr>
          <a:xfrm rot="5400000">
            <a:off x="5518774" y="4321699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WHY PLAYER DATA MATTERS</a:t>
            </a:r>
            <a:endParaRPr dirty="0"/>
          </a:p>
        </p:txBody>
      </p:sp>
      <p:sp>
        <p:nvSpPr>
          <p:cNvPr id="268" name="Google Shape;268;p31"/>
          <p:cNvSpPr txBox="1">
            <a:spLocks noGrp="1"/>
          </p:cNvSpPr>
          <p:nvPr>
            <p:ph type="subTitle" idx="3"/>
          </p:nvPr>
        </p:nvSpPr>
        <p:spPr>
          <a:xfrm>
            <a:off x="2636390" y="3088920"/>
            <a:ext cx="3288000" cy="12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Different playstyles emerge naturally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Engagement patterns become visible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Design strengths and weaknesses are exposed</a:t>
            </a:r>
          </a:p>
          <a:p>
            <a:r>
              <a:rPr lang="en-US" i="1" dirty="0"/>
              <a:t>Understanding behavior is the first step toward understanding immersion.</a:t>
            </a:r>
            <a:endParaRPr lang="en-US" dirty="0"/>
          </a:p>
        </p:txBody>
      </p:sp>
      <p:sp>
        <p:nvSpPr>
          <p:cNvPr id="269" name="Google Shape;269;p31"/>
          <p:cNvSpPr txBox="1">
            <a:spLocks noGrp="1"/>
          </p:cNvSpPr>
          <p:nvPr>
            <p:ph type="subTitle" idx="1"/>
          </p:nvPr>
        </p:nvSpPr>
        <p:spPr>
          <a:xfrm>
            <a:off x="2636390" y="2279782"/>
            <a:ext cx="32880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/>
              <a:t>Key insights from player data:</a:t>
            </a:r>
          </a:p>
        </p:txBody>
      </p:sp>
      <p:grpSp>
        <p:nvGrpSpPr>
          <p:cNvPr id="272" name="Google Shape;272;p31"/>
          <p:cNvGrpSpPr/>
          <p:nvPr/>
        </p:nvGrpSpPr>
        <p:grpSpPr>
          <a:xfrm rot="5400000">
            <a:off x="1577175" y="654550"/>
            <a:ext cx="74100" cy="1788450"/>
            <a:chOff x="8657175" y="772575"/>
            <a:chExt cx="74100" cy="1788450"/>
          </a:xfrm>
        </p:grpSpPr>
        <p:sp>
          <p:nvSpPr>
            <p:cNvPr id="273" name="Google Shape;273;p31"/>
            <p:cNvSpPr/>
            <p:nvPr/>
          </p:nvSpPr>
          <p:spPr>
            <a:xfrm>
              <a:off x="8657175" y="772575"/>
              <a:ext cx="74100" cy="1428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8657175" y="2304150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8657175" y="2483925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1609172-341B-E8A1-6A9A-D258DD958CA2}"/>
              </a:ext>
            </a:extLst>
          </p:cNvPr>
          <p:cNvSpPr txBox="1"/>
          <p:nvPr/>
        </p:nvSpPr>
        <p:spPr>
          <a:xfrm>
            <a:off x="1079550" y="1660825"/>
            <a:ext cx="7586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Orbitron" panose="020B0604020202020204" charset="0"/>
              </a:rPr>
              <a:t>Player behavior data reveals how players interact with open-world systems.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>
          <a:extLst>
            <a:ext uri="{FF2B5EF4-FFF2-40B4-BE49-F238E27FC236}">
              <a16:creationId xmlns:a16="http://schemas.microsoft.com/office/drawing/2014/main" id="{6DEB705B-8CB2-5526-2AFC-B505B57B8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>
            <a:extLst>
              <a:ext uri="{FF2B5EF4-FFF2-40B4-BE49-F238E27FC236}">
                <a16:creationId xmlns:a16="http://schemas.microsoft.com/office/drawing/2014/main" id="{8634CE6C-6399-5D04-9F21-A0EA41236C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34551" y="1590875"/>
            <a:ext cx="4360200" cy="11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IMMERSION IN OPEN-WORLD RPGs</a:t>
            </a:r>
            <a:endParaRPr sz="4400" dirty="0"/>
          </a:p>
        </p:txBody>
      </p:sp>
      <p:sp>
        <p:nvSpPr>
          <p:cNvPr id="242" name="Google Shape;242;p29">
            <a:extLst>
              <a:ext uri="{FF2B5EF4-FFF2-40B4-BE49-F238E27FC236}">
                <a16:creationId xmlns:a16="http://schemas.microsoft.com/office/drawing/2014/main" id="{EBC05B52-D987-CC43-4D5F-07B52193A6B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969701" y="744690"/>
            <a:ext cx="1089900" cy="102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02</a:t>
            </a:r>
            <a:endParaRPr sz="4000" dirty="0"/>
          </a:p>
        </p:txBody>
      </p:sp>
      <p:grpSp>
        <p:nvGrpSpPr>
          <p:cNvPr id="243" name="Google Shape;243;p29">
            <a:extLst>
              <a:ext uri="{FF2B5EF4-FFF2-40B4-BE49-F238E27FC236}">
                <a16:creationId xmlns:a16="http://schemas.microsoft.com/office/drawing/2014/main" id="{8800C238-C51A-66C8-FAD7-B33011B81886}"/>
              </a:ext>
            </a:extLst>
          </p:cNvPr>
          <p:cNvGrpSpPr/>
          <p:nvPr/>
        </p:nvGrpSpPr>
        <p:grpSpPr>
          <a:xfrm>
            <a:off x="7894100" y="3762250"/>
            <a:ext cx="226500" cy="378950"/>
            <a:chOff x="7894100" y="3762250"/>
            <a:chExt cx="226500" cy="378950"/>
          </a:xfrm>
        </p:grpSpPr>
        <p:sp>
          <p:nvSpPr>
            <p:cNvPr id="244" name="Google Shape;244;p29">
              <a:extLst>
                <a:ext uri="{FF2B5EF4-FFF2-40B4-BE49-F238E27FC236}">
                  <a16:creationId xmlns:a16="http://schemas.microsoft.com/office/drawing/2014/main" id="{71D8E398-B5D5-9DE9-2060-BECF807E5A9F}"/>
                </a:ext>
              </a:extLst>
            </p:cNvPr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5" name="Google Shape;245;p29">
              <a:extLst>
                <a:ext uri="{FF2B5EF4-FFF2-40B4-BE49-F238E27FC236}">
                  <a16:creationId xmlns:a16="http://schemas.microsoft.com/office/drawing/2014/main" id="{CCE8D838-7F0A-F767-BD96-D3E94F55F052}"/>
                </a:ext>
              </a:extLst>
            </p:cNvPr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6" name="Google Shape;246;p29">
              <a:extLst>
                <a:ext uri="{FF2B5EF4-FFF2-40B4-BE49-F238E27FC236}">
                  <a16:creationId xmlns:a16="http://schemas.microsoft.com/office/drawing/2014/main" id="{E3D0E6C1-8582-0114-75E9-6D4C80CA887C}"/>
                </a:ext>
              </a:extLst>
            </p:cNvPr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247" name="Google Shape;247;p29">
            <a:extLst>
              <a:ext uri="{FF2B5EF4-FFF2-40B4-BE49-F238E27FC236}">
                <a16:creationId xmlns:a16="http://schemas.microsoft.com/office/drawing/2014/main" id="{CAE7B191-62BF-338B-1EC1-6E3D72451E78}"/>
              </a:ext>
            </a:extLst>
          </p:cNvPr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48" name="Google Shape;248;p29">
              <a:extLst>
                <a:ext uri="{FF2B5EF4-FFF2-40B4-BE49-F238E27FC236}">
                  <a16:creationId xmlns:a16="http://schemas.microsoft.com/office/drawing/2014/main" id="{FC4568E7-06C2-B34E-4727-C3AB0016B3C1}"/>
                </a:ext>
              </a:extLst>
            </p:cNvPr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9" name="Google Shape;249;p29">
              <a:extLst>
                <a:ext uri="{FF2B5EF4-FFF2-40B4-BE49-F238E27FC236}">
                  <a16:creationId xmlns:a16="http://schemas.microsoft.com/office/drawing/2014/main" id="{07BBE506-857A-D528-EA6F-8030008660B9}"/>
                </a:ext>
              </a:extLst>
            </p:cNvPr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0" name="Google Shape;250;p29">
              <a:extLst>
                <a:ext uri="{FF2B5EF4-FFF2-40B4-BE49-F238E27FC236}">
                  <a16:creationId xmlns:a16="http://schemas.microsoft.com/office/drawing/2014/main" id="{7F590485-CECE-5AAB-062F-99E16DC1ADB5}"/>
                </a:ext>
              </a:extLst>
            </p:cNvPr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1" name="Google Shape;251;p29">
              <a:extLst>
                <a:ext uri="{FF2B5EF4-FFF2-40B4-BE49-F238E27FC236}">
                  <a16:creationId xmlns:a16="http://schemas.microsoft.com/office/drawing/2014/main" id="{F00AF954-3623-8BB3-BA79-DA3C221BFDAC}"/>
                </a:ext>
              </a:extLst>
            </p:cNvPr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2065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>
          <a:extLst>
            <a:ext uri="{FF2B5EF4-FFF2-40B4-BE49-F238E27FC236}">
              <a16:creationId xmlns:a16="http://schemas.microsoft.com/office/drawing/2014/main" id="{719F7B68-C047-67F2-88C0-D48C59235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30">
            <a:extLst>
              <a:ext uri="{FF2B5EF4-FFF2-40B4-BE49-F238E27FC236}">
                <a16:creationId xmlns:a16="http://schemas.microsoft.com/office/drawing/2014/main" id="{F69893F5-3B8B-6E06-BBD7-57544F9A76CA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>
          <a:blip r:embed="rId3"/>
          <a:srcRect t="11175" b="11175"/>
          <a:stretch/>
        </p:blipFill>
        <p:spPr>
          <a:xfrm>
            <a:off x="889886" y="621900"/>
            <a:ext cx="2526600" cy="3699600"/>
          </a:xfrm>
          <a:prstGeom prst="snip1Rect">
            <a:avLst>
              <a:gd name="adj" fmla="val 16667"/>
            </a:avLst>
          </a:prstGeom>
        </p:spPr>
      </p:pic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9A094AB4-B01F-C6F1-9161-4ACC3A2846F5}"/>
              </a:ext>
            </a:extLst>
          </p:cNvPr>
          <p:cNvSpPr/>
          <p:nvPr/>
        </p:nvSpPr>
        <p:spPr>
          <a:xfrm rot="5400000">
            <a:off x="5518774" y="3918801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3F5F56AD-7C5D-BA4D-CCEB-BB8CEF578B7C}"/>
              </a:ext>
            </a:extLst>
          </p:cNvPr>
          <p:cNvSpPr/>
          <p:nvPr/>
        </p:nvSpPr>
        <p:spPr>
          <a:xfrm rot="5400000">
            <a:off x="5518774" y="40531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1" name="Google Shape;261;p30">
            <a:extLst>
              <a:ext uri="{FF2B5EF4-FFF2-40B4-BE49-F238E27FC236}">
                <a16:creationId xmlns:a16="http://schemas.microsoft.com/office/drawing/2014/main" id="{42AA61C9-D26C-77FC-463D-58CF08A2B5C2}"/>
              </a:ext>
            </a:extLst>
          </p:cNvPr>
          <p:cNvSpPr/>
          <p:nvPr/>
        </p:nvSpPr>
        <p:spPr>
          <a:xfrm rot="5400000">
            <a:off x="5518774" y="41874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2" name="Google Shape;262;p30">
            <a:extLst>
              <a:ext uri="{FF2B5EF4-FFF2-40B4-BE49-F238E27FC236}">
                <a16:creationId xmlns:a16="http://schemas.microsoft.com/office/drawing/2014/main" id="{01086C32-534D-ED80-EBEB-F1D13C6BC87D}"/>
              </a:ext>
            </a:extLst>
          </p:cNvPr>
          <p:cNvSpPr/>
          <p:nvPr/>
        </p:nvSpPr>
        <p:spPr>
          <a:xfrm rot="5400000">
            <a:off x="5518774" y="4321699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06BFFE9-D793-D393-1421-888B717EAF44}"/>
              </a:ext>
            </a:extLst>
          </p:cNvPr>
          <p:cNvGrpSpPr/>
          <p:nvPr/>
        </p:nvGrpSpPr>
        <p:grpSpPr>
          <a:xfrm>
            <a:off x="3704613" y="487299"/>
            <a:ext cx="5216419" cy="3767151"/>
            <a:chOff x="719998" y="445024"/>
            <a:chExt cx="5216419" cy="3767151"/>
          </a:xfrm>
        </p:grpSpPr>
        <p:sp>
          <p:nvSpPr>
            <p:cNvPr id="2" name="Google Shape;256;p30">
              <a:extLst>
                <a:ext uri="{FF2B5EF4-FFF2-40B4-BE49-F238E27FC236}">
                  <a16:creationId xmlns:a16="http://schemas.microsoft.com/office/drawing/2014/main" id="{19994B5A-2B90-803C-D0F5-ABED1029021F}"/>
                </a:ext>
              </a:extLst>
            </p:cNvPr>
            <p:cNvSpPr txBox="1">
              <a:spLocks/>
            </p:cNvSpPr>
            <p:nvPr/>
          </p:nvSpPr>
          <p:spPr>
            <a:xfrm>
              <a:off x="719998" y="445024"/>
              <a:ext cx="5216419" cy="5890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Orbitron"/>
                <a:buNone/>
                <a:defRPr sz="3000" b="0" i="0" u="none" strike="noStrike" cap="none">
                  <a:solidFill>
                    <a:schemeClr val="dk1"/>
                  </a:solidFill>
                  <a:latin typeface="Orbitron"/>
                  <a:ea typeface="Orbitron"/>
                  <a:cs typeface="Orbitron"/>
                  <a:sym typeface="Orbitron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Raleway"/>
                <a:buNone/>
                <a:defRPr sz="3000" b="1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Raleway"/>
                <a:buNone/>
                <a:defRPr sz="3000" b="1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Raleway"/>
                <a:buNone/>
                <a:defRPr sz="3000" b="1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Raleway"/>
                <a:buNone/>
                <a:defRPr sz="3000" b="1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Raleway"/>
                <a:buNone/>
                <a:defRPr sz="3000" b="1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Raleway"/>
                <a:buNone/>
                <a:defRPr sz="3000" b="1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Raleway"/>
                <a:buNone/>
                <a:defRPr sz="3000" b="1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Raleway"/>
                <a:buNone/>
                <a:defRPr sz="3000" b="1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9pPr>
            </a:lstStyle>
            <a:p>
              <a:r>
                <a:rPr lang="en-US" dirty="0"/>
                <a:t>IMMERSION IN OPEN-WORLD RPGs</a:t>
              </a:r>
            </a:p>
          </p:txBody>
        </p:sp>
        <p:sp>
          <p:nvSpPr>
            <p:cNvPr id="3" name="Google Shape;257;p30">
              <a:extLst>
                <a:ext uri="{FF2B5EF4-FFF2-40B4-BE49-F238E27FC236}">
                  <a16:creationId xmlns:a16="http://schemas.microsoft.com/office/drawing/2014/main" id="{1B54D451-1083-E781-0227-6CC08899F69A}"/>
                </a:ext>
              </a:extLst>
            </p:cNvPr>
            <p:cNvSpPr txBox="1">
              <a:spLocks/>
            </p:cNvSpPr>
            <p:nvPr/>
          </p:nvSpPr>
          <p:spPr>
            <a:xfrm>
              <a:off x="719999" y="1547575"/>
              <a:ext cx="4549500" cy="266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Open Sans Light"/>
                <a:buChar char="●"/>
                <a:defRPr sz="1200" b="0" i="0" u="none" strike="noStrike" cap="none">
                  <a:solidFill>
                    <a:schemeClr val="dk1"/>
                  </a:solidFill>
                  <a:latin typeface="Kanit Light"/>
                  <a:ea typeface="Kanit Light"/>
                  <a:cs typeface="Kanit Light"/>
                  <a:sym typeface="Kanit Light"/>
                </a:defRPr>
              </a:lvl1pPr>
              <a:lvl2pPr marL="914400" marR="0" lvl="1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76A28"/>
                </a:buClr>
                <a:buSzPts val="1200"/>
                <a:buFont typeface="Open Sans Light"/>
                <a:buChar char="○"/>
                <a:defRPr sz="1200" b="0" i="0" u="none" strike="noStrike" cap="none">
                  <a:solidFill>
                    <a:schemeClr val="dk1"/>
                  </a:solidFill>
                  <a:latin typeface="Kanit Light"/>
                  <a:ea typeface="Kanit Light"/>
                  <a:cs typeface="Kanit Light"/>
                  <a:sym typeface="Kanit Light"/>
                </a:defRPr>
              </a:lvl2pPr>
              <a:lvl3pPr marL="1371600" marR="0" lvl="2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76A28"/>
                </a:buClr>
                <a:buSzPts val="1200"/>
                <a:buFont typeface="Open Sans Light"/>
                <a:buChar char="■"/>
                <a:defRPr sz="1200" b="0" i="0" u="none" strike="noStrike" cap="none">
                  <a:solidFill>
                    <a:schemeClr val="dk1"/>
                  </a:solidFill>
                  <a:latin typeface="Kanit Light"/>
                  <a:ea typeface="Kanit Light"/>
                  <a:cs typeface="Kanit Light"/>
                  <a:sym typeface="Kanit Light"/>
                </a:defRPr>
              </a:lvl3pPr>
              <a:lvl4pPr marL="1828800" marR="0" lvl="3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76A28"/>
                </a:buClr>
                <a:buSzPts val="1200"/>
                <a:buFont typeface="Open Sans Light"/>
                <a:buChar char="●"/>
                <a:defRPr sz="1200" b="0" i="0" u="none" strike="noStrike" cap="none">
                  <a:solidFill>
                    <a:schemeClr val="dk1"/>
                  </a:solidFill>
                  <a:latin typeface="Kanit Light"/>
                  <a:ea typeface="Kanit Light"/>
                  <a:cs typeface="Kanit Light"/>
                  <a:sym typeface="Kanit Light"/>
                </a:defRPr>
              </a:lvl4pPr>
              <a:lvl5pPr marL="2286000" marR="0" lvl="4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76A28"/>
                </a:buClr>
                <a:buSzPts val="1200"/>
                <a:buFont typeface="Open Sans Light"/>
                <a:buChar char="○"/>
                <a:defRPr sz="1200" b="0" i="0" u="none" strike="noStrike" cap="none">
                  <a:solidFill>
                    <a:schemeClr val="dk1"/>
                  </a:solidFill>
                  <a:latin typeface="Kanit Light"/>
                  <a:ea typeface="Kanit Light"/>
                  <a:cs typeface="Kanit Light"/>
                  <a:sym typeface="Kanit Light"/>
                </a:defRPr>
              </a:lvl5pPr>
              <a:lvl6pPr marL="2743200" marR="0" lvl="5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99999"/>
                </a:buClr>
                <a:buSzPts val="1200"/>
                <a:buFont typeface="Open Sans Light"/>
                <a:buChar char="■"/>
                <a:defRPr sz="1200" b="0" i="0" u="none" strike="noStrike" cap="none">
                  <a:solidFill>
                    <a:schemeClr val="dk1"/>
                  </a:solidFill>
                  <a:latin typeface="Kanit Light"/>
                  <a:ea typeface="Kanit Light"/>
                  <a:cs typeface="Kanit Light"/>
                  <a:sym typeface="Kanit Light"/>
                </a:defRPr>
              </a:lvl6pPr>
              <a:lvl7pPr marL="3200400" marR="0" lvl="6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99999"/>
                </a:buClr>
                <a:buSzPts val="1200"/>
                <a:buFont typeface="Open Sans Light"/>
                <a:buChar char="●"/>
                <a:defRPr sz="1200" b="0" i="0" u="none" strike="noStrike" cap="none">
                  <a:solidFill>
                    <a:schemeClr val="dk1"/>
                  </a:solidFill>
                  <a:latin typeface="Kanit Light"/>
                  <a:ea typeface="Kanit Light"/>
                  <a:cs typeface="Kanit Light"/>
                  <a:sym typeface="Kanit Light"/>
                </a:defRPr>
              </a:lvl7pPr>
              <a:lvl8pPr marL="3657600" marR="0" lvl="7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99999"/>
                </a:buClr>
                <a:buSzPts val="1200"/>
                <a:buFont typeface="Open Sans Light"/>
                <a:buChar char="○"/>
                <a:defRPr sz="1200" b="0" i="0" u="none" strike="noStrike" cap="none">
                  <a:solidFill>
                    <a:schemeClr val="dk1"/>
                  </a:solidFill>
                  <a:latin typeface="Kanit Light"/>
                  <a:ea typeface="Kanit Light"/>
                  <a:cs typeface="Kanit Light"/>
                  <a:sym typeface="Kanit Light"/>
                </a:defRPr>
              </a:lvl8pPr>
              <a:lvl9pPr marL="4114800" marR="0" lvl="8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99999"/>
                </a:buClr>
                <a:buSzPts val="1200"/>
                <a:buFont typeface="Open Sans Light"/>
                <a:buChar char="■"/>
                <a:defRPr sz="1200" b="0" i="0" u="none" strike="noStrike" cap="none">
                  <a:solidFill>
                    <a:schemeClr val="dk1"/>
                  </a:solidFill>
                  <a:latin typeface="Kanit Light"/>
                  <a:ea typeface="Kanit Light"/>
                  <a:cs typeface="Kanit Light"/>
                  <a:sym typeface="Kanit Light"/>
                </a:defRPr>
              </a:lvl9pPr>
            </a:lstStyle>
            <a:p>
              <a:pPr marL="152400" indent="0">
                <a:buFont typeface="Open Sans Light"/>
                <a:buNone/>
              </a:pPr>
              <a:r>
                <a:rPr lang="en-US" b="1"/>
                <a:t>Immersion</a:t>
              </a:r>
              <a:r>
                <a:rPr lang="en-US"/>
                <a:t> describes how deeply players feel part of the game world.</a:t>
              </a:r>
            </a:p>
            <a:p>
              <a:pPr marL="152400" indent="0">
                <a:buFont typeface="Open Sans Light"/>
                <a:buNone/>
              </a:pPr>
              <a:endParaRPr lang="en-US"/>
            </a:p>
            <a:p>
              <a:pPr marL="152400" indent="0">
                <a:buFont typeface="Open Sans Light"/>
                <a:buNone/>
              </a:pPr>
              <a:r>
                <a:rPr lang="en-US"/>
                <a:t>Core components: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/>
                <a:t>Freedom of exploration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/>
                <a:t>Meaningful player choices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/>
                <a:t>Reactive environments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/>
                <a:t>Strong sense of player agency</a:t>
              </a:r>
            </a:p>
            <a:p>
              <a:pPr marL="0" indent="0">
                <a:buFont typeface="Open Sans Light"/>
                <a:buNone/>
              </a:pPr>
              <a:endParaRPr lang="en-US"/>
            </a:p>
            <a:p>
              <a:pPr marL="0" indent="0">
                <a:buFont typeface="Open Sans Light"/>
                <a:buNone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07960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>
          <a:extLst>
            <a:ext uri="{FF2B5EF4-FFF2-40B4-BE49-F238E27FC236}">
              <a16:creationId xmlns:a16="http://schemas.microsoft.com/office/drawing/2014/main" id="{2D1ADC66-33BD-09B2-6159-EC4B856E4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>
            <a:extLst>
              <a:ext uri="{FF2B5EF4-FFF2-40B4-BE49-F238E27FC236}">
                <a16:creationId xmlns:a16="http://schemas.microsoft.com/office/drawing/2014/main" id="{B9550EFE-9DBA-838C-6711-CA4CD25BB6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07045" y="1753648"/>
            <a:ext cx="4959256" cy="11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PLAYER TELEMETRY DATA</a:t>
            </a:r>
            <a:endParaRPr dirty="0"/>
          </a:p>
        </p:txBody>
      </p:sp>
      <p:sp>
        <p:nvSpPr>
          <p:cNvPr id="242" name="Google Shape;242;p29">
            <a:extLst>
              <a:ext uri="{FF2B5EF4-FFF2-40B4-BE49-F238E27FC236}">
                <a16:creationId xmlns:a16="http://schemas.microsoft.com/office/drawing/2014/main" id="{525C19E2-2952-09CD-D9B0-48CF34CB159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747013" y="947625"/>
            <a:ext cx="1359832" cy="108586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243" name="Google Shape;243;p29">
            <a:extLst>
              <a:ext uri="{FF2B5EF4-FFF2-40B4-BE49-F238E27FC236}">
                <a16:creationId xmlns:a16="http://schemas.microsoft.com/office/drawing/2014/main" id="{4BFB7D3A-8E2F-0B90-5FA9-509DD11EE38F}"/>
              </a:ext>
            </a:extLst>
          </p:cNvPr>
          <p:cNvGrpSpPr/>
          <p:nvPr/>
        </p:nvGrpSpPr>
        <p:grpSpPr>
          <a:xfrm>
            <a:off x="7894100" y="3762250"/>
            <a:ext cx="226500" cy="378950"/>
            <a:chOff x="7894100" y="3762250"/>
            <a:chExt cx="226500" cy="378950"/>
          </a:xfrm>
        </p:grpSpPr>
        <p:sp>
          <p:nvSpPr>
            <p:cNvPr id="244" name="Google Shape;244;p29">
              <a:extLst>
                <a:ext uri="{FF2B5EF4-FFF2-40B4-BE49-F238E27FC236}">
                  <a16:creationId xmlns:a16="http://schemas.microsoft.com/office/drawing/2014/main" id="{FDAF9ADF-3DF3-2CE7-431D-55BEA57BEB49}"/>
                </a:ext>
              </a:extLst>
            </p:cNvPr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5" name="Google Shape;245;p29">
              <a:extLst>
                <a:ext uri="{FF2B5EF4-FFF2-40B4-BE49-F238E27FC236}">
                  <a16:creationId xmlns:a16="http://schemas.microsoft.com/office/drawing/2014/main" id="{8B113D76-0168-7517-B9F4-64F727A76FC5}"/>
                </a:ext>
              </a:extLst>
            </p:cNvPr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6" name="Google Shape;246;p29">
              <a:extLst>
                <a:ext uri="{FF2B5EF4-FFF2-40B4-BE49-F238E27FC236}">
                  <a16:creationId xmlns:a16="http://schemas.microsoft.com/office/drawing/2014/main" id="{514D166C-3070-4AA1-F619-A07A4271589C}"/>
                </a:ext>
              </a:extLst>
            </p:cNvPr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247" name="Google Shape;247;p29">
            <a:extLst>
              <a:ext uri="{FF2B5EF4-FFF2-40B4-BE49-F238E27FC236}">
                <a16:creationId xmlns:a16="http://schemas.microsoft.com/office/drawing/2014/main" id="{1D0D1148-44B4-C7FD-F25A-E7E661EC540C}"/>
              </a:ext>
            </a:extLst>
          </p:cNvPr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48" name="Google Shape;248;p29">
              <a:extLst>
                <a:ext uri="{FF2B5EF4-FFF2-40B4-BE49-F238E27FC236}">
                  <a16:creationId xmlns:a16="http://schemas.microsoft.com/office/drawing/2014/main" id="{69B5E6EE-A2D1-9302-1BF6-F799E503F053}"/>
                </a:ext>
              </a:extLst>
            </p:cNvPr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9" name="Google Shape;249;p29">
              <a:extLst>
                <a:ext uri="{FF2B5EF4-FFF2-40B4-BE49-F238E27FC236}">
                  <a16:creationId xmlns:a16="http://schemas.microsoft.com/office/drawing/2014/main" id="{87DDC732-A5D5-F5DB-E39D-F2CF2105C9AF}"/>
                </a:ext>
              </a:extLst>
            </p:cNvPr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0" name="Google Shape;250;p29">
              <a:extLst>
                <a:ext uri="{FF2B5EF4-FFF2-40B4-BE49-F238E27FC236}">
                  <a16:creationId xmlns:a16="http://schemas.microsoft.com/office/drawing/2014/main" id="{2E76AA1C-E174-26CA-F12F-7247674997D6}"/>
                </a:ext>
              </a:extLst>
            </p:cNvPr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1" name="Google Shape;251;p29">
              <a:extLst>
                <a:ext uri="{FF2B5EF4-FFF2-40B4-BE49-F238E27FC236}">
                  <a16:creationId xmlns:a16="http://schemas.microsoft.com/office/drawing/2014/main" id="{CA4B807E-6223-6E25-D52F-5E0ABD974000}"/>
                </a:ext>
              </a:extLst>
            </p:cNvPr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4698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>
          <a:extLst>
            <a:ext uri="{FF2B5EF4-FFF2-40B4-BE49-F238E27FC236}">
              <a16:creationId xmlns:a16="http://schemas.microsoft.com/office/drawing/2014/main" id="{7A099130-66FD-7186-C239-ADC894732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>
            <a:extLst>
              <a:ext uri="{FF2B5EF4-FFF2-40B4-BE49-F238E27FC236}">
                <a16:creationId xmlns:a16="http://schemas.microsoft.com/office/drawing/2014/main" id="{6650946B-E7A9-F93A-F378-2725A6EFEE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549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PLAYER TELEMETRY DATA</a:t>
            </a:r>
            <a:endParaRPr dirty="0"/>
          </a:p>
        </p:txBody>
      </p:sp>
      <p:sp>
        <p:nvSpPr>
          <p:cNvPr id="257" name="Google Shape;257;p30">
            <a:extLst>
              <a:ext uri="{FF2B5EF4-FFF2-40B4-BE49-F238E27FC236}">
                <a16:creationId xmlns:a16="http://schemas.microsoft.com/office/drawing/2014/main" id="{8704B5DE-BD99-6F3B-7155-262DDB3207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547575"/>
            <a:ext cx="4549500" cy="266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r>
              <a:rPr lang="en-US" dirty="0"/>
              <a:t>Open-world games collect behavioral features such as:</a:t>
            </a:r>
          </a:p>
          <a:p>
            <a:pPr marL="15240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Exploration hours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Combat encounters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Side quests completed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Dialogue choices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Fast travel usage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Crafting actions</a:t>
            </a:r>
          </a:p>
          <a:p>
            <a:pPr marL="152400" indent="0">
              <a:buNone/>
            </a:pPr>
            <a:endParaRPr lang="en-US" dirty="0"/>
          </a:p>
          <a:p>
            <a:pPr marL="152400" indent="0">
              <a:buNone/>
            </a:pPr>
            <a:r>
              <a:rPr lang="en-US" i="1" dirty="0"/>
              <a:t>Dataset used in this project is synthetic, inspired by real RPG telemetry.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pic>
        <p:nvPicPr>
          <p:cNvPr id="258" name="Google Shape;258;p30">
            <a:extLst>
              <a:ext uri="{FF2B5EF4-FFF2-40B4-BE49-F238E27FC236}">
                <a16:creationId xmlns:a16="http://schemas.microsoft.com/office/drawing/2014/main" id="{C98231F7-E10A-99F9-563C-DEF6AE612031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>
          <a:blip r:embed="rId3"/>
          <a:srcRect t="8818" b="8818"/>
          <a:stretch/>
        </p:blipFill>
        <p:spPr>
          <a:xfrm>
            <a:off x="5831400" y="756200"/>
            <a:ext cx="2526600" cy="3699600"/>
          </a:xfrm>
          <a:prstGeom prst="snip1Rect">
            <a:avLst>
              <a:gd name="adj" fmla="val 16667"/>
            </a:avLst>
          </a:prstGeom>
        </p:spPr>
      </p:pic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A676E38B-7D2F-A66F-06A3-7149AEF6905B}"/>
              </a:ext>
            </a:extLst>
          </p:cNvPr>
          <p:cNvSpPr/>
          <p:nvPr/>
        </p:nvSpPr>
        <p:spPr>
          <a:xfrm rot="5400000">
            <a:off x="5518774" y="3918801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EE0EC91C-162E-A519-94E1-9C263D12DF78}"/>
              </a:ext>
            </a:extLst>
          </p:cNvPr>
          <p:cNvSpPr/>
          <p:nvPr/>
        </p:nvSpPr>
        <p:spPr>
          <a:xfrm rot="5400000">
            <a:off x="5518774" y="40531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1" name="Google Shape;261;p30">
            <a:extLst>
              <a:ext uri="{FF2B5EF4-FFF2-40B4-BE49-F238E27FC236}">
                <a16:creationId xmlns:a16="http://schemas.microsoft.com/office/drawing/2014/main" id="{BF24CD74-A409-4681-BBA3-9DD9EFC98C26}"/>
              </a:ext>
            </a:extLst>
          </p:cNvPr>
          <p:cNvSpPr/>
          <p:nvPr/>
        </p:nvSpPr>
        <p:spPr>
          <a:xfrm rot="5400000">
            <a:off x="5518774" y="41874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2" name="Google Shape;262;p30">
            <a:extLst>
              <a:ext uri="{FF2B5EF4-FFF2-40B4-BE49-F238E27FC236}">
                <a16:creationId xmlns:a16="http://schemas.microsoft.com/office/drawing/2014/main" id="{FF2DADB8-AD3C-2B00-02C0-F2E925EAFEA6}"/>
              </a:ext>
            </a:extLst>
          </p:cNvPr>
          <p:cNvSpPr/>
          <p:nvPr/>
        </p:nvSpPr>
        <p:spPr>
          <a:xfrm rot="5400000">
            <a:off x="5518774" y="4321699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</p:spTree>
    <p:extLst>
      <p:ext uri="{BB962C8B-B14F-4D97-AF65-F5344CB8AC3E}">
        <p14:creationId xmlns:p14="http://schemas.microsoft.com/office/powerpoint/2010/main" val="1779830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5"/>
          <p:cNvSpPr txBox="1">
            <a:spLocks noGrp="1"/>
          </p:cNvSpPr>
          <p:nvPr>
            <p:ph type="title"/>
          </p:nvPr>
        </p:nvSpPr>
        <p:spPr>
          <a:xfrm>
            <a:off x="1572500" y="1125725"/>
            <a:ext cx="61068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200" dirty="0"/>
              <a:t>PROBLEM FORMULATION</a:t>
            </a:r>
            <a:br>
              <a:rPr lang="en-US" sz="3200" dirty="0"/>
            </a:br>
            <a:endParaRPr sz="3200" dirty="0"/>
          </a:p>
        </p:txBody>
      </p:sp>
      <p:sp>
        <p:nvSpPr>
          <p:cNvPr id="331" name="Google Shape;331;p35"/>
          <p:cNvSpPr txBox="1">
            <a:spLocks noGrp="1"/>
          </p:cNvSpPr>
          <p:nvPr>
            <p:ph type="subTitle" idx="1"/>
          </p:nvPr>
        </p:nvSpPr>
        <p:spPr>
          <a:xfrm>
            <a:off x="1254308" y="2259669"/>
            <a:ext cx="6675842" cy="19362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Can we automatically identify different player playstyles using data mining?</a:t>
            </a:r>
          </a:p>
          <a:p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Unsupervised learning problem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No predefined labels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Goal: discover hidden player groups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332" name="Google Shape;332;p35"/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333" name="Google Shape;333;p35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334" name="Google Shape;334;p35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335" name="Google Shape;335;p35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336" name="Google Shape;336;p35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337" name="Google Shape;337;p35"/>
          <p:cNvGrpSpPr/>
          <p:nvPr/>
        </p:nvGrpSpPr>
        <p:grpSpPr>
          <a:xfrm>
            <a:off x="1061450" y="3804075"/>
            <a:ext cx="226500" cy="378950"/>
            <a:chOff x="7894100" y="3762250"/>
            <a:chExt cx="226500" cy="378950"/>
          </a:xfrm>
        </p:grpSpPr>
        <p:sp>
          <p:nvSpPr>
            <p:cNvPr id="338" name="Google Shape;338;p35"/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339" name="Google Shape;339;p35"/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340" name="Google Shape;340;p35"/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>
          <a:extLst>
            <a:ext uri="{FF2B5EF4-FFF2-40B4-BE49-F238E27FC236}">
              <a16:creationId xmlns:a16="http://schemas.microsoft.com/office/drawing/2014/main" id="{F8022341-3D31-8C99-ABBA-F27CF8074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>
            <a:extLst>
              <a:ext uri="{FF2B5EF4-FFF2-40B4-BE49-F238E27FC236}">
                <a16:creationId xmlns:a16="http://schemas.microsoft.com/office/drawing/2014/main" id="{A3355371-F12C-23A1-6A26-48DF7464D7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88633" y="2165368"/>
            <a:ext cx="6042491" cy="14730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METHODOLOGY</a:t>
            </a:r>
            <a:endParaRPr dirty="0"/>
          </a:p>
        </p:txBody>
      </p:sp>
      <p:sp>
        <p:nvSpPr>
          <p:cNvPr id="242" name="Google Shape;242;p29">
            <a:extLst>
              <a:ext uri="{FF2B5EF4-FFF2-40B4-BE49-F238E27FC236}">
                <a16:creationId xmlns:a16="http://schemas.microsoft.com/office/drawing/2014/main" id="{5948A3A8-0BD4-29E0-844E-5AC97D62EDB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112579" y="1277984"/>
            <a:ext cx="1359832" cy="108586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243" name="Google Shape;243;p29">
            <a:extLst>
              <a:ext uri="{FF2B5EF4-FFF2-40B4-BE49-F238E27FC236}">
                <a16:creationId xmlns:a16="http://schemas.microsoft.com/office/drawing/2014/main" id="{109C96DE-A8CD-1D99-04FB-372A2FBA4151}"/>
              </a:ext>
            </a:extLst>
          </p:cNvPr>
          <p:cNvGrpSpPr/>
          <p:nvPr/>
        </p:nvGrpSpPr>
        <p:grpSpPr>
          <a:xfrm>
            <a:off x="7894100" y="3762250"/>
            <a:ext cx="226500" cy="378950"/>
            <a:chOff x="7894100" y="3762250"/>
            <a:chExt cx="226500" cy="378950"/>
          </a:xfrm>
        </p:grpSpPr>
        <p:sp>
          <p:nvSpPr>
            <p:cNvPr id="244" name="Google Shape;244;p29">
              <a:extLst>
                <a:ext uri="{FF2B5EF4-FFF2-40B4-BE49-F238E27FC236}">
                  <a16:creationId xmlns:a16="http://schemas.microsoft.com/office/drawing/2014/main" id="{B6D9BC42-AA2A-95C6-D7B5-9E6AA9D110D0}"/>
                </a:ext>
              </a:extLst>
            </p:cNvPr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5" name="Google Shape;245;p29">
              <a:extLst>
                <a:ext uri="{FF2B5EF4-FFF2-40B4-BE49-F238E27FC236}">
                  <a16:creationId xmlns:a16="http://schemas.microsoft.com/office/drawing/2014/main" id="{46FB3C44-D0E3-4DD0-0D75-A525F20B2B7B}"/>
                </a:ext>
              </a:extLst>
            </p:cNvPr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6" name="Google Shape;246;p29">
              <a:extLst>
                <a:ext uri="{FF2B5EF4-FFF2-40B4-BE49-F238E27FC236}">
                  <a16:creationId xmlns:a16="http://schemas.microsoft.com/office/drawing/2014/main" id="{9997B7F3-358F-B937-6352-071AFB363412}"/>
                </a:ext>
              </a:extLst>
            </p:cNvPr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247" name="Google Shape;247;p29">
            <a:extLst>
              <a:ext uri="{FF2B5EF4-FFF2-40B4-BE49-F238E27FC236}">
                <a16:creationId xmlns:a16="http://schemas.microsoft.com/office/drawing/2014/main" id="{11EE006D-AF27-7E1D-DECD-8B12BFF89676}"/>
              </a:ext>
            </a:extLst>
          </p:cNvPr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48" name="Google Shape;248;p29">
              <a:extLst>
                <a:ext uri="{FF2B5EF4-FFF2-40B4-BE49-F238E27FC236}">
                  <a16:creationId xmlns:a16="http://schemas.microsoft.com/office/drawing/2014/main" id="{A33DB8F9-D6F8-AF0D-F553-B8546F2B7584}"/>
                </a:ext>
              </a:extLst>
            </p:cNvPr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9" name="Google Shape;249;p29">
              <a:extLst>
                <a:ext uri="{FF2B5EF4-FFF2-40B4-BE49-F238E27FC236}">
                  <a16:creationId xmlns:a16="http://schemas.microsoft.com/office/drawing/2014/main" id="{777863FA-0C6B-6042-C9CE-5E6F687A2726}"/>
                </a:ext>
              </a:extLst>
            </p:cNvPr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0" name="Google Shape;250;p29">
              <a:extLst>
                <a:ext uri="{FF2B5EF4-FFF2-40B4-BE49-F238E27FC236}">
                  <a16:creationId xmlns:a16="http://schemas.microsoft.com/office/drawing/2014/main" id="{E2EBD6EC-E658-30F3-3ED4-DEF0BFD9C1E3}"/>
                </a:ext>
              </a:extLst>
            </p:cNvPr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1" name="Google Shape;251;p29">
              <a:extLst>
                <a:ext uri="{FF2B5EF4-FFF2-40B4-BE49-F238E27FC236}">
                  <a16:creationId xmlns:a16="http://schemas.microsoft.com/office/drawing/2014/main" id="{EAE07C6D-9CF6-7FF8-A6BF-87625EE0EE26}"/>
                </a:ext>
              </a:extLst>
            </p:cNvPr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2907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>
          <a:extLst>
            <a:ext uri="{FF2B5EF4-FFF2-40B4-BE49-F238E27FC236}">
              <a16:creationId xmlns:a16="http://schemas.microsoft.com/office/drawing/2014/main" id="{ADA05BFB-DB57-AD8B-1FD3-8685D3D4B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30">
            <a:extLst>
              <a:ext uri="{FF2B5EF4-FFF2-40B4-BE49-F238E27FC236}">
                <a16:creationId xmlns:a16="http://schemas.microsoft.com/office/drawing/2014/main" id="{D75C7D52-6B4A-72D8-777D-990EE7859E91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>
          <a:blip r:embed="rId3"/>
          <a:srcRect t="11175" b="11175"/>
          <a:stretch/>
        </p:blipFill>
        <p:spPr>
          <a:xfrm>
            <a:off x="889886" y="621900"/>
            <a:ext cx="2526600" cy="3699600"/>
          </a:xfrm>
          <a:prstGeom prst="snip1Rect">
            <a:avLst>
              <a:gd name="adj" fmla="val 16667"/>
            </a:avLst>
          </a:prstGeom>
        </p:spPr>
      </p:pic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19953BE2-3505-42A0-9916-25AF6F2FDBEE}"/>
              </a:ext>
            </a:extLst>
          </p:cNvPr>
          <p:cNvSpPr/>
          <p:nvPr/>
        </p:nvSpPr>
        <p:spPr>
          <a:xfrm rot="5400000">
            <a:off x="5518774" y="3918801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1FDD691D-C11D-BE3B-2FE3-8A6EFFC6F176}"/>
              </a:ext>
            </a:extLst>
          </p:cNvPr>
          <p:cNvSpPr/>
          <p:nvPr/>
        </p:nvSpPr>
        <p:spPr>
          <a:xfrm rot="5400000">
            <a:off x="5518774" y="40531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1" name="Google Shape;261;p30">
            <a:extLst>
              <a:ext uri="{FF2B5EF4-FFF2-40B4-BE49-F238E27FC236}">
                <a16:creationId xmlns:a16="http://schemas.microsoft.com/office/drawing/2014/main" id="{4570F671-3DDC-DA67-4E01-4C26D4C954F4}"/>
              </a:ext>
            </a:extLst>
          </p:cNvPr>
          <p:cNvSpPr/>
          <p:nvPr/>
        </p:nvSpPr>
        <p:spPr>
          <a:xfrm rot="5400000">
            <a:off x="5518774" y="41874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2" name="Google Shape;262;p30">
            <a:extLst>
              <a:ext uri="{FF2B5EF4-FFF2-40B4-BE49-F238E27FC236}">
                <a16:creationId xmlns:a16="http://schemas.microsoft.com/office/drawing/2014/main" id="{58EF396A-7430-391C-8BB4-AFBAFD6A9F86}"/>
              </a:ext>
            </a:extLst>
          </p:cNvPr>
          <p:cNvSpPr/>
          <p:nvPr/>
        </p:nvSpPr>
        <p:spPr>
          <a:xfrm rot="5400000">
            <a:off x="5518774" y="4321699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AA684F-A17A-67D3-18AC-610F8E31FB1C}"/>
              </a:ext>
            </a:extLst>
          </p:cNvPr>
          <p:cNvGrpSpPr/>
          <p:nvPr/>
        </p:nvGrpSpPr>
        <p:grpSpPr>
          <a:xfrm>
            <a:off x="3625227" y="487299"/>
            <a:ext cx="5295805" cy="3267900"/>
            <a:chOff x="640612" y="445024"/>
            <a:chExt cx="5295805" cy="3267900"/>
          </a:xfrm>
        </p:grpSpPr>
        <p:sp>
          <p:nvSpPr>
            <p:cNvPr id="2" name="Google Shape;256;p30">
              <a:extLst>
                <a:ext uri="{FF2B5EF4-FFF2-40B4-BE49-F238E27FC236}">
                  <a16:creationId xmlns:a16="http://schemas.microsoft.com/office/drawing/2014/main" id="{8C3FD586-4833-6A38-1C18-D478A5AE2F0A}"/>
                </a:ext>
              </a:extLst>
            </p:cNvPr>
            <p:cNvSpPr txBox="1">
              <a:spLocks/>
            </p:cNvSpPr>
            <p:nvPr/>
          </p:nvSpPr>
          <p:spPr>
            <a:xfrm>
              <a:off x="719998" y="445024"/>
              <a:ext cx="5216419" cy="5890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Orbitron"/>
                <a:buNone/>
                <a:defRPr sz="3000" b="0" i="0" u="none" strike="noStrike" cap="none">
                  <a:solidFill>
                    <a:schemeClr val="dk1"/>
                  </a:solidFill>
                  <a:latin typeface="Orbitron"/>
                  <a:ea typeface="Orbitron"/>
                  <a:cs typeface="Orbitron"/>
                  <a:sym typeface="Orbitron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Raleway"/>
                <a:buNone/>
                <a:defRPr sz="3000" b="1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Raleway"/>
                <a:buNone/>
                <a:defRPr sz="3000" b="1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Raleway"/>
                <a:buNone/>
                <a:defRPr sz="3000" b="1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Raleway"/>
                <a:buNone/>
                <a:defRPr sz="3000" b="1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Raleway"/>
                <a:buNone/>
                <a:defRPr sz="3000" b="1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Raleway"/>
                <a:buNone/>
                <a:defRPr sz="3000" b="1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Raleway"/>
                <a:buNone/>
                <a:defRPr sz="3000" b="1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Raleway"/>
                <a:buNone/>
                <a:defRPr sz="3000" b="1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9pPr>
            </a:lstStyle>
            <a:p>
              <a:r>
                <a:rPr lang="en-US" dirty="0"/>
                <a:t>METHODOLOGY</a:t>
              </a:r>
            </a:p>
          </p:txBody>
        </p:sp>
        <p:sp>
          <p:nvSpPr>
            <p:cNvPr id="3" name="Google Shape;257;p30">
              <a:extLst>
                <a:ext uri="{FF2B5EF4-FFF2-40B4-BE49-F238E27FC236}">
                  <a16:creationId xmlns:a16="http://schemas.microsoft.com/office/drawing/2014/main" id="{DD21E3D1-3E36-04A8-B57E-B5C502A2E89E}"/>
                </a:ext>
              </a:extLst>
            </p:cNvPr>
            <p:cNvSpPr txBox="1">
              <a:spLocks/>
            </p:cNvSpPr>
            <p:nvPr/>
          </p:nvSpPr>
          <p:spPr>
            <a:xfrm>
              <a:off x="640612" y="1048324"/>
              <a:ext cx="4549500" cy="266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Open Sans Light"/>
                <a:buChar char="●"/>
                <a:defRPr sz="1200" b="0" i="0" u="none" strike="noStrike" cap="none">
                  <a:solidFill>
                    <a:schemeClr val="dk1"/>
                  </a:solidFill>
                  <a:latin typeface="Kanit Light"/>
                  <a:ea typeface="Kanit Light"/>
                  <a:cs typeface="Kanit Light"/>
                  <a:sym typeface="Kanit Light"/>
                </a:defRPr>
              </a:lvl1pPr>
              <a:lvl2pPr marL="914400" marR="0" lvl="1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76A28"/>
                </a:buClr>
                <a:buSzPts val="1200"/>
                <a:buFont typeface="Open Sans Light"/>
                <a:buChar char="○"/>
                <a:defRPr sz="1200" b="0" i="0" u="none" strike="noStrike" cap="none">
                  <a:solidFill>
                    <a:schemeClr val="dk1"/>
                  </a:solidFill>
                  <a:latin typeface="Kanit Light"/>
                  <a:ea typeface="Kanit Light"/>
                  <a:cs typeface="Kanit Light"/>
                  <a:sym typeface="Kanit Light"/>
                </a:defRPr>
              </a:lvl2pPr>
              <a:lvl3pPr marL="1371600" marR="0" lvl="2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76A28"/>
                </a:buClr>
                <a:buSzPts val="1200"/>
                <a:buFont typeface="Open Sans Light"/>
                <a:buChar char="■"/>
                <a:defRPr sz="1200" b="0" i="0" u="none" strike="noStrike" cap="none">
                  <a:solidFill>
                    <a:schemeClr val="dk1"/>
                  </a:solidFill>
                  <a:latin typeface="Kanit Light"/>
                  <a:ea typeface="Kanit Light"/>
                  <a:cs typeface="Kanit Light"/>
                  <a:sym typeface="Kanit Light"/>
                </a:defRPr>
              </a:lvl3pPr>
              <a:lvl4pPr marL="1828800" marR="0" lvl="3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76A28"/>
                </a:buClr>
                <a:buSzPts val="1200"/>
                <a:buFont typeface="Open Sans Light"/>
                <a:buChar char="●"/>
                <a:defRPr sz="1200" b="0" i="0" u="none" strike="noStrike" cap="none">
                  <a:solidFill>
                    <a:schemeClr val="dk1"/>
                  </a:solidFill>
                  <a:latin typeface="Kanit Light"/>
                  <a:ea typeface="Kanit Light"/>
                  <a:cs typeface="Kanit Light"/>
                  <a:sym typeface="Kanit Light"/>
                </a:defRPr>
              </a:lvl4pPr>
              <a:lvl5pPr marL="2286000" marR="0" lvl="4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76A28"/>
                </a:buClr>
                <a:buSzPts val="1200"/>
                <a:buFont typeface="Open Sans Light"/>
                <a:buChar char="○"/>
                <a:defRPr sz="1200" b="0" i="0" u="none" strike="noStrike" cap="none">
                  <a:solidFill>
                    <a:schemeClr val="dk1"/>
                  </a:solidFill>
                  <a:latin typeface="Kanit Light"/>
                  <a:ea typeface="Kanit Light"/>
                  <a:cs typeface="Kanit Light"/>
                  <a:sym typeface="Kanit Light"/>
                </a:defRPr>
              </a:lvl5pPr>
              <a:lvl6pPr marL="2743200" marR="0" lvl="5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99999"/>
                </a:buClr>
                <a:buSzPts val="1200"/>
                <a:buFont typeface="Open Sans Light"/>
                <a:buChar char="■"/>
                <a:defRPr sz="1200" b="0" i="0" u="none" strike="noStrike" cap="none">
                  <a:solidFill>
                    <a:schemeClr val="dk1"/>
                  </a:solidFill>
                  <a:latin typeface="Kanit Light"/>
                  <a:ea typeface="Kanit Light"/>
                  <a:cs typeface="Kanit Light"/>
                  <a:sym typeface="Kanit Light"/>
                </a:defRPr>
              </a:lvl6pPr>
              <a:lvl7pPr marL="3200400" marR="0" lvl="6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99999"/>
                </a:buClr>
                <a:buSzPts val="1200"/>
                <a:buFont typeface="Open Sans Light"/>
                <a:buChar char="●"/>
                <a:defRPr sz="1200" b="0" i="0" u="none" strike="noStrike" cap="none">
                  <a:solidFill>
                    <a:schemeClr val="dk1"/>
                  </a:solidFill>
                  <a:latin typeface="Kanit Light"/>
                  <a:ea typeface="Kanit Light"/>
                  <a:cs typeface="Kanit Light"/>
                  <a:sym typeface="Kanit Light"/>
                </a:defRPr>
              </a:lvl7pPr>
              <a:lvl8pPr marL="3657600" marR="0" lvl="7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99999"/>
                </a:buClr>
                <a:buSzPts val="1200"/>
                <a:buFont typeface="Open Sans Light"/>
                <a:buChar char="○"/>
                <a:defRPr sz="1200" b="0" i="0" u="none" strike="noStrike" cap="none">
                  <a:solidFill>
                    <a:schemeClr val="dk1"/>
                  </a:solidFill>
                  <a:latin typeface="Kanit Light"/>
                  <a:ea typeface="Kanit Light"/>
                  <a:cs typeface="Kanit Light"/>
                  <a:sym typeface="Kanit Light"/>
                </a:defRPr>
              </a:lvl8pPr>
              <a:lvl9pPr marL="4114800" marR="0" lvl="8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99999"/>
                </a:buClr>
                <a:buSzPts val="1200"/>
                <a:buFont typeface="Open Sans Light"/>
                <a:buChar char="■"/>
                <a:defRPr sz="1200" b="0" i="0" u="none" strike="noStrike" cap="none">
                  <a:solidFill>
                    <a:schemeClr val="dk1"/>
                  </a:solidFill>
                  <a:latin typeface="Kanit Light"/>
                  <a:ea typeface="Kanit Light"/>
                  <a:cs typeface="Kanit Light"/>
                  <a:sym typeface="Kanit Light"/>
                </a:defRPr>
              </a:lvl9pPr>
            </a:lstStyle>
            <a:p>
              <a:pPr marL="152400" indent="0">
                <a:buNone/>
              </a:pPr>
              <a:endParaRPr lang="en-US" dirty="0"/>
            </a:p>
            <a:p>
              <a:pPr marL="152400" indent="0">
                <a:buNone/>
              </a:pPr>
              <a:r>
                <a:rPr lang="en-US" dirty="0"/>
                <a:t>Our data mining pipeline consists of:</a:t>
              </a:r>
            </a:p>
            <a:p>
              <a:pPr marL="152400" indent="0">
                <a:buNone/>
              </a:pPr>
              <a:endParaRPr lang="en-US" dirty="0"/>
            </a:p>
            <a:p>
              <a:pPr>
                <a:buFont typeface="+mj-lt"/>
                <a:buAutoNum type="arabicPeriod"/>
              </a:pPr>
              <a:r>
                <a:rPr lang="en-US" dirty="0"/>
                <a:t>Synthetic data generation</a:t>
              </a:r>
            </a:p>
            <a:p>
              <a:pPr>
                <a:buFont typeface="+mj-lt"/>
                <a:buAutoNum type="arabicPeriod"/>
              </a:pPr>
              <a:r>
                <a:rPr lang="en-US" dirty="0"/>
                <a:t>Feature standardization</a:t>
              </a:r>
            </a:p>
            <a:p>
              <a:pPr>
                <a:buFont typeface="+mj-lt"/>
                <a:buAutoNum type="arabicPeriod"/>
              </a:pPr>
              <a:r>
                <a:rPr lang="en-US" dirty="0"/>
                <a:t>K-Means clustering</a:t>
              </a:r>
            </a:p>
            <a:p>
              <a:pPr>
                <a:buFont typeface="+mj-lt"/>
                <a:buAutoNum type="arabicPeriod"/>
              </a:pPr>
              <a:r>
                <a:rPr lang="en-US" dirty="0"/>
                <a:t>PCA visualization</a:t>
              </a:r>
            </a:p>
            <a:p>
              <a:pPr>
                <a:buFont typeface="+mj-lt"/>
                <a:buAutoNum type="arabicPeriod"/>
              </a:pPr>
              <a:r>
                <a:rPr lang="en-US" dirty="0"/>
                <a:t>Elbow method &amp; Silhouette score</a:t>
              </a:r>
            </a:p>
            <a:p>
              <a:pPr marL="0" indent="0">
                <a:buFont typeface="Open Sans Light"/>
                <a:buNone/>
              </a:pPr>
              <a:endParaRPr lang="en-US" dirty="0"/>
            </a:p>
            <a:p>
              <a:pPr marL="0" indent="0">
                <a:buFont typeface="Open Sans Light"/>
                <a:buNone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793142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3"/>
          <p:cNvSpPr txBox="1">
            <a:spLocks noGrp="1"/>
          </p:cNvSpPr>
          <p:nvPr>
            <p:ph type="subTitle" idx="2"/>
          </p:nvPr>
        </p:nvSpPr>
        <p:spPr>
          <a:xfrm>
            <a:off x="1055851" y="1247675"/>
            <a:ext cx="30483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b="1" dirty="0"/>
              <a:t>Elbow Method</a:t>
            </a:r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Inertia decreases sharply until </a:t>
            </a:r>
            <a:r>
              <a:rPr lang="en-US" b="1" dirty="0"/>
              <a:t>k = 3</a:t>
            </a:r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Improvements flatten after this point</a:t>
            </a:r>
          </a:p>
          <a:p>
            <a:pPr algn="l"/>
            <a:r>
              <a:rPr lang="en-US" b="1" dirty="0"/>
              <a:t>→ Optimal number of clusters: k = 3</a:t>
            </a:r>
            <a:endParaRPr lang="en-US" dirty="0"/>
          </a:p>
        </p:txBody>
      </p:sp>
      <p:sp>
        <p:nvSpPr>
          <p:cNvPr id="292" name="Google Shape;292;p33"/>
          <p:cNvSpPr txBox="1">
            <a:spLocks noGrp="1"/>
          </p:cNvSpPr>
          <p:nvPr>
            <p:ph type="subTitle" idx="3"/>
          </p:nvPr>
        </p:nvSpPr>
        <p:spPr>
          <a:xfrm>
            <a:off x="5039850" y="1321775"/>
            <a:ext cx="30483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/>
            <a:r>
              <a:rPr lang="en-US" b="1" dirty="0"/>
              <a:t>PCA Visualization of Player Clusters</a:t>
            </a:r>
          </a:p>
          <a:p>
            <a:pPr marL="0" indent="0" algn="l"/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296" name="Google Shape;296;p33"/>
          <p:cNvSpPr txBox="1">
            <a:spLocks noGrp="1"/>
          </p:cNvSpPr>
          <p:nvPr>
            <p:ph type="subTitle" idx="1"/>
          </p:nvPr>
        </p:nvSpPr>
        <p:spPr>
          <a:xfrm>
            <a:off x="989253" y="606400"/>
            <a:ext cx="3048300" cy="5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Elbow Method</a:t>
            </a:r>
            <a:endParaRPr dirty="0"/>
          </a:p>
        </p:txBody>
      </p:sp>
      <p:sp>
        <p:nvSpPr>
          <p:cNvPr id="298" name="Google Shape;298;p33"/>
          <p:cNvSpPr txBox="1">
            <a:spLocks noGrp="1"/>
          </p:cNvSpPr>
          <p:nvPr>
            <p:ph type="subTitle" idx="7"/>
          </p:nvPr>
        </p:nvSpPr>
        <p:spPr>
          <a:xfrm>
            <a:off x="5039850" y="643450"/>
            <a:ext cx="3048300" cy="5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PCA Visualization of Player Clusters</a:t>
            </a:r>
            <a:endParaRPr dirty="0"/>
          </a:p>
        </p:txBody>
      </p:sp>
      <p:grpSp>
        <p:nvGrpSpPr>
          <p:cNvPr id="300" name="Google Shape;300;p33"/>
          <p:cNvGrpSpPr/>
          <p:nvPr/>
        </p:nvGrpSpPr>
        <p:grpSpPr>
          <a:xfrm>
            <a:off x="8275100" y="1095250"/>
            <a:ext cx="226500" cy="378950"/>
            <a:chOff x="7894100" y="3762250"/>
            <a:chExt cx="226500" cy="378950"/>
          </a:xfrm>
        </p:grpSpPr>
        <p:sp>
          <p:nvSpPr>
            <p:cNvPr id="301" name="Google Shape;301;p33"/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302" name="Google Shape;302;p33"/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303" name="Google Shape;303;p33"/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DDB781C4-9013-E2F7-8249-91C1562BC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134" y="2438899"/>
            <a:ext cx="2690538" cy="2017904"/>
          </a:xfrm>
          <a:prstGeom prst="rect">
            <a:avLst/>
          </a:prstGeom>
        </p:spPr>
      </p:pic>
      <p:sp>
        <p:nvSpPr>
          <p:cNvPr id="17" name="Rectangle 4">
            <a:extLst>
              <a:ext uri="{FF2B5EF4-FFF2-40B4-BE49-F238E27FC236}">
                <a16:creationId xmlns:a16="http://schemas.microsoft.com/office/drawing/2014/main" id="{4E2BA65B-6ECA-D682-66D3-89106983BE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4144" y="1610911"/>
            <a:ext cx="3094117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Each point represents a player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Colors indicate cluster membership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Clear separation between clusters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7AF443C-9FEF-88E2-A69F-2F487B0928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1145" y="2431717"/>
            <a:ext cx="2700114" cy="20250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2"/>
          <p:cNvSpPr txBox="1">
            <a:spLocks noGrp="1"/>
          </p:cNvSpPr>
          <p:nvPr>
            <p:ph type="subTitle" idx="1"/>
          </p:nvPr>
        </p:nvSpPr>
        <p:spPr>
          <a:xfrm>
            <a:off x="680137" y="1660725"/>
            <a:ext cx="2526900" cy="69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b="1" dirty="0"/>
              <a:t>Cluster 1 — Explorer</a:t>
            </a:r>
            <a:endParaRPr lang="en-US" dirty="0"/>
          </a:p>
        </p:txBody>
      </p:sp>
      <p:sp>
        <p:nvSpPr>
          <p:cNvPr id="281" name="Google Shape;281;p32"/>
          <p:cNvSpPr txBox="1">
            <a:spLocks noGrp="1"/>
          </p:cNvSpPr>
          <p:nvPr>
            <p:ph type="subTitle" idx="5"/>
          </p:nvPr>
        </p:nvSpPr>
        <p:spPr>
          <a:xfrm>
            <a:off x="3306163" y="1761262"/>
            <a:ext cx="2526900" cy="69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b="1" dirty="0"/>
              <a:t>Cluster 2 — Combat-Focused</a:t>
            </a:r>
            <a:endParaRPr lang="en-US" dirty="0"/>
          </a:p>
        </p:txBody>
      </p:sp>
      <p:sp>
        <p:nvSpPr>
          <p:cNvPr id="282" name="Google Shape;282;p32"/>
          <p:cNvSpPr txBox="1">
            <a:spLocks noGrp="1"/>
          </p:cNvSpPr>
          <p:nvPr>
            <p:ph type="subTitle" idx="6"/>
          </p:nvPr>
        </p:nvSpPr>
        <p:spPr>
          <a:xfrm>
            <a:off x="5936963" y="1774532"/>
            <a:ext cx="2526900" cy="69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b="1" dirty="0"/>
              <a:t>Cluster 3 — Narrative / Completionist</a:t>
            </a:r>
            <a:endParaRPr lang="en-US" dirty="0"/>
          </a:p>
        </p:txBody>
      </p:sp>
      <p:sp>
        <p:nvSpPr>
          <p:cNvPr id="283" name="Google Shape;283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CLUSTER INTERPRETATION</a:t>
            </a:r>
            <a:endParaRPr dirty="0"/>
          </a:p>
        </p:txBody>
      </p:sp>
      <p:sp>
        <p:nvSpPr>
          <p:cNvPr id="284" name="Google Shape;284;p32"/>
          <p:cNvSpPr txBox="1">
            <a:spLocks noGrp="1"/>
          </p:cNvSpPr>
          <p:nvPr>
            <p:ph type="subTitle" idx="2"/>
          </p:nvPr>
        </p:nvSpPr>
        <p:spPr>
          <a:xfrm>
            <a:off x="680137" y="2511900"/>
            <a:ext cx="2526900" cy="16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 exploration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Low fast travel usage</a:t>
            </a:r>
          </a:p>
        </p:txBody>
      </p:sp>
      <p:sp>
        <p:nvSpPr>
          <p:cNvPr id="285" name="Google Shape;285;p32"/>
          <p:cNvSpPr txBox="1">
            <a:spLocks noGrp="1"/>
          </p:cNvSpPr>
          <p:nvPr>
            <p:ph type="subTitle" idx="3"/>
          </p:nvPr>
        </p:nvSpPr>
        <p:spPr>
          <a:xfrm>
            <a:off x="3306163" y="2511900"/>
            <a:ext cx="2526900" cy="16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 combat encounters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Direct, action-oriented gameplay</a:t>
            </a:r>
          </a:p>
        </p:txBody>
      </p:sp>
      <p:sp>
        <p:nvSpPr>
          <p:cNvPr id="286" name="Google Shape;286;p32"/>
          <p:cNvSpPr txBox="1">
            <a:spLocks noGrp="1"/>
          </p:cNvSpPr>
          <p:nvPr>
            <p:ph type="subTitle" idx="4"/>
          </p:nvPr>
        </p:nvSpPr>
        <p:spPr>
          <a:xfrm>
            <a:off x="5936963" y="2511900"/>
            <a:ext cx="2526900" cy="16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 side-quest completion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Many dialogue choices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763EA6-3532-1098-01B8-62CED19FF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4939" y="3234810"/>
            <a:ext cx="2010722" cy="15080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36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7798" b="7806"/>
          <a:stretch/>
        </p:blipFill>
        <p:spPr>
          <a:xfrm>
            <a:off x="0" y="0"/>
            <a:ext cx="9144003" cy="5143501"/>
          </a:xfrm>
          <a:prstGeom prst="rect">
            <a:avLst/>
          </a:prstGeom>
        </p:spPr>
      </p:pic>
      <p:sp>
        <p:nvSpPr>
          <p:cNvPr id="346" name="Google Shape;346;p36"/>
          <p:cNvSpPr txBox="1">
            <a:spLocks noGrp="1"/>
          </p:cNvSpPr>
          <p:nvPr>
            <p:ph type="title"/>
          </p:nvPr>
        </p:nvSpPr>
        <p:spPr>
          <a:xfrm>
            <a:off x="720000" y="4104775"/>
            <a:ext cx="7704000" cy="50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APPLICATIONS IN GAME DESIGN</a:t>
            </a:r>
            <a:endParaRPr dirty="0"/>
          </a:p>
        </p:txBody>
      </p:sp>
      <p:grpSp>
        <p:nvGrpSpPr>
          <p:cNvPr id="347" name="Google Shape;347;p36"/>
          <p:cNvGrpSpPr/>
          <p:nvPr/>
        </p:nvGrpSpPr>
        <p:grpSpPr>
          <a:xfrm>
            <a:off x="8228625" y="1820750"/>
            <a:ext cx="226500" cy="378950"/>
            <a:chOff x="7894100" y="3762250"/>
            <a:chExt cx="226500" cy="378950"/>
          </a:xfrm>
        </p:grpSpPr>
        <p:sp>
          <p:nvSpPr>
            <p:cNvPr id="348" name="Google Shape;348;p36"/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349" name="Google Shape;349;p36"/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350" name="Google Shape;350;p36"/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>
          <a:extLst>
            <a:ext uri="{FF2B5EF4-FFF2-40B4-BE49-F238E27FC236}">
              <a16:creationId xmlns:a16="http://schemas.microsoft.com/office/drawing/2014/main" id="{0ABA87F3-6C80-19B1-FB11-70319F2FC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>
            <a:extLst>
              <a:ext uri="{FF2B5EF4-FFF2-40B4-BE49-F238E27FC236}">
                <a16:creationId xmlns:a16="http://schemas.microsoft.com/office/drawing/2014/main" id="{9A1F6F57-112A-E692-B6C7-18CFEDD787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549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APPLICATIONS IN GAME DESIGN</a:t>
            </a:r>
            <a:endParaRPr dirty="0"/>
          </a:p>
        </p:txBody>
      </p:sp>
      <p:sp>
        <p:nvSpPr>
          <p:cNvPr id="257" name="Google Shape;257;p30">
            <a:extLst>
              <a:ext uri="{FF2B5EF4-FFF2-40B4-BE49-F238E27FC236}">
                <a16:creationId xmlns:a16="http://schemas.microsoft.com/office/drawing/2014/main" id="{80576E30-8996-11DA-C408-0FC2AE6BDE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547575"/>
            <a:ext cx="4549500" cy="266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r>
              <a:rPr lang="en-US" dirty="0"/>
              <a:t>Data mining insights can support:</a:t>
            </a:r>
          </a:p>
          <a:p>
            <a:pPr marL="15240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Quest pacing optimization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Content personalization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Difficulty balancing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DLC and expansion planning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pic>
        <p:nvPicPr>
          <p:cNvPr id="258" name="Google Shape;258;p30">
            <a:extLst>
              <a:ext uri="{FF2B5EF4-FFF2-40B4-BE49-F238E27FC236}">
                <a16:creationId xmlns:a16="http://schemas.microsoft.com/office/drawing/2014/main" id="{70D29818-B9D9-4D68-77F3-440AD4439F27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>
          <a:blip r:embed="rId3"/>
          <a:srcRect t="8818" b="8818"/>
          <a:stretch/>
        </p:blipFill>
        <p:spPr>
          <a:xfrm>
            <a:off x="5831400" y="756200"/>
            <a:ext cx="2526600" cy="3699600"/>
          </a:xfrm>
          <a:prstGeom prst="snip1Rect">
            <a:avLst>
              <a:gd name="adj" fmla="val 16667"/>
            </a:avLst>
          </a:prstGeom>
        </p:spPr>
      </p:pic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E98490E4-9708-0F1F-612B-F162C35AC36A}"/>
              </a:ext>
            </a:extLst>
          </p:cNvPr>
          <p:cNvSpPr/>
          <p:nvPr/>
        </p:nvSpPr>
        <p:spPr>
          <a:xfrm rot="5400000">
            <a:off x="5518774" y="3918801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C74D4F89-06BE-DB16-9C5C-D1C391F6426F}"/>
              </a:ext>
            </a:extLst>
          </p:cNvPr>
          <p:cNvSpPr/>
          <p:nvPr/>
        </p:nvSpPr>
        <p:spPr>
          <a:xfrm rot="5400000">
            <a:off x="5518774" y="40531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1" name="Google Shape;261;p30">
            <a:extLst>
              <a:ext uri="{FF2B5EF4-FFF2-40B4-BE49-F238E27FC236}">
                <a16:creationId xmlns:a16="http://schemas.microsoft.com/office/drawing/2014/main" id="{50013864-4334-D9F5-4E87-946520B93494}"/>
              </a:ext>
            </a:extLst>
          </p:cNvPr>
          <p:cNvSpPr/>
          <p:nvPr/>
        </p:nvSpPr>
        <p:spPr>
          <a:xfrm rot="5400000">
            <a:off x="5518774" y="41874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2" name="Google Shape;262;p30">
            <a:extLst>
              <a:ext uri="{FF2B5EF4-FFF2-40B4-BE49-F238E27FC236}">
                <a16:creationId xmlns:a16="http://schemas.microsoft.com/office/drawing/2014/main" id="{D5CED3E2-5A6C-1434-AE8C-F8223EAC6545}"/>
              </a:ext>
            </a:extLst>
          </p:cNvPr>
          <p:cNvSpPr/>
          <p:nvPr/>
        </p:nvSpPr>
        <p:spPr>
          <a:xfrm rot="5400000">
            <a:off x="5518774" y="4321699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</p:spTree>
    <p:extLst>
      <p:ext uri="{BB962C8B-B14F-4D97-AF65-F5344CB8AC3E}">
        <p14:creationId xmlns:p14="http://schemas.microsoft.com/office/powerpoint/2010/main" val="425593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Game Design Agency by Slidesgo">
  <a:themeElements>
    <a:clrScheme name="Simple Light">
      <a:dk1>
        <a:srgbClr val="FFFFFF"/>
      </a:dk1>
      <a:lt1>
        <a:srgbClr val="000000"/>
      </a:lt1>
      <a:dk2>
        <a:srgbClr val="DD3D6E"/>
      </a:dk2>
      <a:lt2>
        <a:srgbClr val="6ABFD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347</Words>
  <Application>Microsoft Office PowerPoint</Application>
  <PresentationFormat>On-screen Show (16:9)</PresentationFormat>
  <Paragraphs>104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Open Sans Light</vt:lpstr>
      <vt:lpstr>Kanit Light</vt:lpstr>
      <vt:lpstr>Orbitron</vt:lpstr>
      <vt:lpstr>Kanit</vt:lpstr>
      <vt:lpstr>Raleway</vt:lpstr>
      <vt:lpstr>Arial</vt:lpstr>
      <vt:lpstr>Game Design Agency by Slidesgo</vt:lpstr>
      <vt:lpstr>Data Mining Applications in Open-World Games</vt:lpstr>
      <vt:lpstr>Table of contents</vt:lpstr>
      <vt:lpstr>Motivation</vt:lpstr>
      <vt:lpstr>Motivation</vt:lpstr>
      <vt:lpstr>WHY PLAYER DATA MATTERS</vt:lpstr>
      <vt:lpstr>IMMERSION IN OPEN-WORLD RPGs</vt:lpstr>
      <vt:lpstr>PowerPoint Presentation</vt:lpstr>
      <vt:lpstr>PLAYER TELEMETRY DATA</vt:lpstr>
      <vt:lpstr>PLAYER TELEMETRY DATA</vt:lpstr>
      <vt:lpstr>PROBLEM FORMULATION </vt:lpstr>
      <vt:lpstr>METHODOLOGY</vt:lpstr>
      <vt:lpstr>PowerPoint Presentation</vt:lpstr>
      <vt:lpstr>PowerPoint Presentation</vt:lpstr>
      <vt:lpstr>CLUSTER INTERPRETATION</vt:lpstr>
      <vt:lpstr>APPLICATIONS IN GAME DESIGN</vt:lpstr>
      <vt:lpstr>APPLICATIONS IN GAME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Enea Cane</cp:lastModifiedBy>
  <cp:revision>3</cp:revision>
  <dcterms:modified xsi:type="dcterms:W3CDTF">2026-01-22T01:13:46Z</dcterms:modified>
</cp:coreProperties>
</file>